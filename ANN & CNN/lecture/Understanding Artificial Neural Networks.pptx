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76" r:id="rId14"/>
    <p:sldId id="275" r:id="rId15"/>
    <p:sldId id="267" r:id="rId16"/>
    <p:sldId id="268" r:id="rId17"/>
    <p:sldId id="269" r:id="rId18"/>
    <p:sldId id="271" r:id="rId19"/>
    <p:sldId id="270" r:id="rId20"/>
    <p:sldId id="274" r:id="rId21"/>
    <p:sldId id="273" r:id="rId22"/>
    <p:sldId id="272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21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A3CD-13E3-43A0-8590-27746B1A210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9782F-A5AD-42A8-B463-4814F21AA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BDA7-3922-CDA4-C201-12D7334AC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00348-46A7-27E5-D1B3-74220D358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354B4-173C-092D-F6DC-F95CB403B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D2A40-FF78-69DC-D8DD-30FA9C51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08A7-D7A6-6294-5CB2-1814759B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7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0EE5-D06A-EEF4-A713-80DF88A1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1BBA-3400-2493-193E-C1338E9D2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3BC29-7348-5B9E-98C3-97B1A7DC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D0562-5691-8E41-74F0-37B60814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5ECF4-3BE3-4B6C-9D4A-7274A7E1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4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F962-4750-E164-1C84-BC68E8CA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4223-9C5D-191F-5AF1-2CCC3AA3A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8A3EB-3565-32A3-C844-C7452A6E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B377-0456-45B9-38BE-B6C1331B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EB129-2274-7E71-F24E-90BF6C5C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0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95B5-38A1-88EA-1DD4-866CE880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2CB4E-6611-8C24-64A6-9982201E5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62046-A645-0372-64E0-FE7C67334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ADCCA-6DF8-8A75-AAF0-D3CA2DCE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2DE55-F3EA-D368-A508-46230E95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195D8-6266-6577-2452-EEEF7C4B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7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D1DC-3ECC-2B9C-F456-23A1CC79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E3D5F-7FF8-4075-9418-1D5EAEBF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18013-3A48-8D01-CF99-3A3D0B1B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AE8CE-F342-1E91-4B41-54A4D4843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994C8-3F3E-8D96-8264-F20628C6E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4EADD-5A09-181C-D97E-FFD74375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2C938D-1173-8DE9-3737-F11BEA4A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8683A-9513-992E-08DD-D4D08B70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CFF2-956C-94B0-B991-7D44B2EC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BB166-0234-9AA7-BC2B-8B2836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963D0-14C9-D600-CE93-1A0BBD7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027EE-A602-F909-913E-00E4D295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5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56ED9-681A-AAC4-31AF-21C6BFAB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9D3CE-A8BF-6C57-649C-FDEF421C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3357F-C15B-709A-CD89-BE00271E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4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82D4-46EB-00D6-3C5F-EA537899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AEBB9-A85A-11C6-FF1F-F462E010A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7D264-83FB-B1A5-68C1-EC4EA18E2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7F594-BB41-7C65-B4D5-D1BFE092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112DB-AB86-93F1-3F4F-3A6802F7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298D2-9B98-4EE1-D815-BFB69145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4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A0BE-7FFF-1B13-9217-55CA01A4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42704-8ACD-B81C-0D88-D4F586E49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779D4-51D0-6F1F-275D-F1DEC17AD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55E20-1174-2577-CF0D-AE8E8042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E1138-E542-5D5C-B09A-B91B24DE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1F0C2-E383-77FB-CDDB-3A5E677D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5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F83A-0899-FD70-3C66-9873B16C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5C437-C0F5-F2CC-4823-8B81E5ED8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9DC1-94D9-D6DE-9ADA-6B301590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6E0FF-2CC7-F28B-8A53-15EF812E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BB12E-CE9B-8299-7482-F2AB0723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9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57747-ED06-7094-559D-F70F2F8E6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58C23-6A3B-A9B4-C165-DF722C6BE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01A1-A32E-36C0-8B2D-D7268B71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EE8D3-6EF4-1004-9018-D0FA6301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68F23-FE56-AB2E-4753-57C99969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9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62173-5A2C-9FFB-2B53-EB6943CC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47540-AF36-3613-3857-38B0E1059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24AA-1B9B-DC06-85C4-1753C4D6E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3C31-C23C-4AAD-83E2-2898A6BD510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F1B8F-7FB9-09A3-6B59-3CC0EE1A3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89ED-29D4-4535-A78E-E9E40FA87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D0CB3-0BDD-45C6-854E-4CA959090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5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4135-4FC1-31E6-5FC1-A9095AFE7E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Montserrat" pitchFamily="2" charset="0"/>
              </a:rPr>
              <a:t>Understanding Artificial Neural Networks</a:t>
            </a:r>
            <a:endParaRPr lang="en-US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6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05D5-9DCA-F6FA-54C8-9581389B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itchFamily="2" charset="0"/>
              </a:rPr>
              <a:t>ANN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60DD-890E-F1A6-B66B-8761FB5E9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latin typeface="Montserrat" pitchFamily="2" charset="0"/>
              </a:rPr>
              <a:t>Theory Topics</a:t>
            </a:r>
          </a:p>
          <a:p>
            <a:pPr marL="0" indent="0">
              <a:buNone/>
            </a:pPr>
            <a:endParaRPr lang="en-US" sz="3200" dirty="0">
              <a:latin typeface="Montserrat" pitchFamily="2" charset="0"/>
            </a:endParaRPr>
          </a:p>
          <a:p>
            <a:pPr lvl="1"/>
            <a:r>
              <a:rPr lang="en-US" sz="3600" dirty="0">
                <a:latin typeface="Montserrat" pitchFamily="2" charset="0"/>
              </a:rPr>
              <a:t>Perceptron Model to Neural Networks</a:t>
            </a:r>
          </a:p>
          <a:p>
            <a:pPr lvl="1"/>
            <a:r>
              <a:rPr lang="en-US" sz="3600" dirty="0">
                <a:latin typeface="Montserrat" pitchFamily="2" charset="0"/>
              </a:rPr>
              <a:t>Activation Functions</a:t>
            </a:r>
          </a:p>
          <a:p>
            <a:pPr lvl="1"/>
            <a:r>
              <a:rPr lang="en-US" sz="3600" dirty="0">
                <a:latin typeface="Montserrat" pitchFamily="2" charset="0"/>
              </a:rPr>
              <a:t>Cost Functions</a:t>
            </a:r>
          </a:p>
          <a:p>
            <a:pPr lvl="1"/>
            <a:r>
              <a:rPr lang="en-US" sz="3600" dirty="0">
                <a:latin typeface="Montserrat" pitchFamily="2" charset="0"/>
              </a:rPr>
              <a:t>Feed Forward Networks</a:t>
            </a:r>
          </a:p>
          <a:p>
            <a:pPr lvl="1"/>
            <a:r>
              <a:rPr lang="en-US" sz="3600" dirty="0" err="1">
                <a:latin typeface="Montserrat" pitchFamily="2" charset="0"/>
              </a:rPr>
              <a:t>BackPropagation</a:t>
            </a:r>
            <a:endParaRPr lang="en-US" sz="3600" dirty="0">
              <a:latin typeface="Montserrat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00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4E5B-1010-2782-A53A-AD4948AE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656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EECC-81AA-D8EB-7224-91BC46BAD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160" y="4420535"/>
            <a:ext cx="7272491" cy="2046544"/>
          </a:xfrm>
        </p:spPr>
        <p:txBody>
          <a:bodyPr/>
          <a:lstStyle/>
          <a:p>
            <a:r>
              <a:rPr lang="en-US" dirty="0"/>
              <a:t>Illustration of biological neuron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938E8E-330A-5AE0-70FD-1CEB32B2D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009" y="1992540"/>
            <a:ext cx="7545968" cy="486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C4FC9E-F8A8-2335-8BE4-E38630CC582B}"/>
              </a:ext>
            </a:extLst>
          </p:cNvPr>
          <p:cNvSpPr txBox="1"/>
          <p:nvPr/>
        </p:nvSpPr>
        <p:spPr>
          <a:xfrm>
            <a:off x="1482009" y="1469320"/>
            <a:ext cx="6407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Illustration of biological neurons</a:t>
            </a:r>
          </a:p>
        </p:txBody>
      </p:sp>
    </p:spTree>
    <p:extLst>
      <p:ext uri="{BB962C8B-B14F-4D97-AF65-F5344CB8AC3E}">
        <p14:creationId xmlns:p14="http://schemas.microsoft.com/office/powerpoint/2010/main" val="294068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233F-A986-5B91-9AC5-BD4EDC1E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729D-5160-212D-E8C3-F021AD9A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656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97123-1938-4D82-D4F0-DD7C714F241B}"/>
              </a:ext>
            </a:extLst>
          </p:cNvPr>
          <p:cNvSpPr txBox="1"/>
          <p:nvPr/>
        </p:nvSpPr>
        <p:spPr>
          <a:xfrm>
            <a:off x="1482009" y="1469320"/>
            <a:ext cx="6983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Simplified Biological Neuron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0DA410-136E-777A-824F-495EA4C86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28" y="1992540"/>
            <a:ext cx="10812272" cy="454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5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2BB5-184D-53FE-594A-243F34FA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2AFC-E742-41FA-C7C0-9C2C3D67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44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7C507-5429-9B16-E4C1-42AD7421AC21}"/>
              </a:ext>
            </a:extLst>
          </p:cNvPr>
          <p:cNvSpPr txBox="1"/>
          <p:nvPr/>
        </p:nvSpPr>
        <p:spPr>
          <a:xfrm>
            <a:off x="1491153" y="1128809"/>
            <a:ext cx="3884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Perceptron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2DC5E-4E72-6C97-A544-08256C8AFCCC}"/>
              </a:ext>
            </a:extLst>
          </p:cNvPr>
          <p:cNvSpPr txBox="1"/>
          <p:nvPr/>
        </p:nvSpPr>
        <p:spPr>
          <a:xfrm>
            <a:off x="5068389" y="4726086"/>
            <a:ext cx="94930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x1 , x2 </a:t>
            </a:r>
            <a:r>
              <a:rPr lang="en-US" sz="2800" dirty="0"/>
              <a:t>= Inputs</a:t>
            </a:r>
          </a:p>
          <a:p>
            <a:r>
              <a:rPr lang="en-US" sz="2800" b="1" dirty="0"/>
              <a:t>w1 , w2 </a:t>
            </a:r>
            <a:r>
              <a:rPr lang="en-US" sz="2800" dirty="0"/>
              <a:t>= Weights</a:t>
            </a:r>
          </a:p>
          <a:p>
            <a:r>
              <a:rPr lang="en-US" sz="2800" b="1" dirty="0"/>
              <a:t>f(X) </a:t>
            </a:r>
            <a:r>
              <a:rPr lang="en-US" sz="2800" dirty="0"/>
              <a:t>= Activation Functions</a:t>
            </a:r>
          </a:p>
          <a:p>
            <a:r>
              <a:rPr lang="en-US" sz="2800" b="1" dirty="0"/>
              <a:t>y</a:t>
            </a:r>
            <a:r>
              <a:rPr lang="en-US" sz="2800" dirty="0"/>
              <a:t>= Output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F5EC41-5A9C-A805-2768-9C7CA690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36" y="1652029"/>
            <a:ext cx="10515599" cy="31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8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FE6B-9103-400D-B83E-0749F678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CAFD-D560-FF67-2EC8-567C876CF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44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428E3-50DC-AA3A-77BB-1FB6D7C740F5}"/>
              </a:ext>
            </a:extLst>
          </p:cNvPr>
          <p:cNvSpPr txBox="1"/>
          <p:nvPr/>
        </p:nvSpPr>
        <p:spPr>
          <a:xfrm>
            <a:off x="1491153" y="1128809"/>
            <a:ext cx="3884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Perceptron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E9E62-DB29-E1F5-9907-1FFDE489A1DE}"/>
              </a:ext>
            </a:extLst>
          </p:cNvPr>
          <p:cNvSpPr txBox="1"/>
          <p:nvPr/>
        </p:nvSpPr>
        <p:spPr>
          <a:xfrm>
            <a:off x="5068389" y="4726086"/>
            <a:ext cx="94930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f(X) is addition then:</a:t>
            </a:r>
          </a:p>
          <a:p>
            <a:endParaRPr lang="en-US" sz="2800" dirty="0"/>
          </a:p>
          <a:p>
            <a:r>
              <a:rPr lang="en-US" sz="4000" b="1" dirty="0"/>
              <a:t>y=x1w1+x2w2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E7AB79-DBE9-7DD8-7816-BBF56C44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36" y="1652029"/>
            <a:ext cx="10515599" cy="31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01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4DE6-5B6D-94AF-9FC8-425F6B24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2B46-4524-503D-7F46-C189DBF4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44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D0115-5E0A-F59B-24AB-FD91B1DE5197}"/>
              </a:ext>
            </a:extLst>
          </p:cNvPr>
          <p:cNvSpPr txBox="1"/>
          <p:nvPr/>
        </p:nvSpPr>
        <p:spPr>
          <a:xfrm>
            <a:off x="1491153" y="1128809"/>
            <a:ext cx="3884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Perceptron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6C76B-E9CB-5A3B-C50E-F9D695CCE8F0}"/>
              </a:ext>
            </a:extLst>
          </p:cNvPr>
          <p:cNvSpPr txBox="1"/>
          <p:nvPr/>
        </p:nvSpPr>
        <p:spPr>
          <a:xfrm>
            <a:off x="5068389" y="4726086"/>
            <a:ext cx="94930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f(X) is addition then:</a:t>
            </a:r>
          </a:p>
          <a:p>
            <a:endParaRPr lang="en-US" sz="2800" dirty="0"/>
          </a:p>
          <a:p>
            <a:r>
              <a:rPr lang="en-US" sz="4000" b="1" dirty="0"/>
              <a:t>y=x1w1+x2w2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ADAB73-71C7-9D2E-2FCB-794E82FF1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36" y="1652029"/>
            <a:ext cx="10515599" cy="31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4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8476-9A83-9531-20F4-B50BA7D0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2ADD-FC85-C67C-F02E-B225D42A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44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D7557-F75E-D86B-1095-AB1111ED3D22}"/>
              </a:ext>
            </a:extLst>
          </p:cNvPr>
          <p:cNvSpPr txBox="1"/>
          <p:nvPr/>
        </p:nvSpPr>
        <p:spPr>
          <a:xfrm>
            <a:off x="1491153" y="1128809"/>
            <a:ext cx="3884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Perceptron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6881E-5E9D-BF92-001F-7F10EC58151A}"/>
              </a:ext>
            </a:extLst>
          </p:cNvPr>
          <p:cNvSpPr txBox="1"/>
          <p:nvPr/>
        </p:nvSpPr>
        <p:spPr>
          <a:xfrm>
            <a:off x="4986093" y="4728917"/>
            <a:ext cx="949306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can update weights to guess y</a:t>
            </a:r>
          </a:p>
          <a:p>
            <a:r>
              <a:rPr lang="en-US" sz="2800" b="1" dirty="0"/>
              <a:t>For supervised Learning</a:t>
            </a:r>
          </a:p>
          <a:p>
            <a:r>
              <a:rPr lang="en-US" sz="2800" b="1" dirty="0"/>
              <a:t>X1=2, x2=3 and y=13</a:t>
            </a:r>
          </a:p>
          <a:p>
            <a:r>
              <a:rPr lang="en-US" sz="2800" b="1" dirty="0"/>
              <a:t>Find w1 and w2?</a:t>
            </a:r>
            <a:r>
              <a:rPr lang="en-US" sz="4000" b="1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804D6B-37A8-4BE3-2C02-B4C0C713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36" y="1652029"/>
            <a:ext cx="10515599" cy="31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5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F33A-4C89-360F-2A4F-5B6665A3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8A8A-7056-C11D-4BF0-5E1C377F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44"/>
            <a:ext cx="10515600" cy="1325563"/>
          </a:xfrm>
        </p:spPr>
        <p:txBody>
          <a:bodyPr/>
          <a:lstStyle/>
          <a:p>
            <a:r>
              <a:rPr lang="en-US" dirty="0"/>
              <a:t>Perceptron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B665B-1451-5467-43FE-902E4185836E}"/>
              </a:ext>
            </a:extLst>
          </p:cNvPr>
          <p:cNvSpPr txBox="1"/>
          <p:nvPr/>
        </p:nvSpPr>
        <p:spPr>
          <a:xfrm>
            <a:off x="1308273" y="1147488"/>
            <a:ext cx="10501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But what if an </a:t>
            </a:r>
            <a:r>
              <a:rPr lang="en-US" sz="3200" b="1" dirty="0"/>
              <a:t>x</a:t>
            </a:r>
            <a:r>
              <a:rPr lang="en-US" sz="3200" dirty="0"/>
              <a:t> is zero? </a:t>
            </a:r>
            <a:r>
              <a:rPr lang="en-US" sz="3200" b="1" dirty="0"/>
              <a:t>w</a:t>
            </a:r>
            <a:r>
              <a:rPr lang="en-US" sz="3200" dirty="0"/>
              <a:t> won’t change anything!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83FD7-ED15-92F7-2508-AB17CEA4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28" y="1732263"/>
            <a:ext cx="10419743" cy="291642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77462A-7361-10CC-B04C-1657FBA2B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344" y="4079620"/>
            <a:ext cx="5706456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09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AE49-2B5E-63ED-E764-F85C6805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19ACE-AFAD-A789-4D3E-E6A7B0F2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177" y="1369187"/>
            <a:ext cx="7179764" cy="42589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20B76F-F324-BC2A-3FD1-53337ABC0BDD}"/>
              </a:ext>
            </a:extLst>
          </p:cNvPr>
          <p:cNvSpPr/>
          <p:nvPr/>
        </p:nvSpPr>
        <p:spPr>
          <a:xfrm>
            <a:off x="4962739" y="1369187"/>
            <a:ext cx="2882538" cy="4397525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45FF90-236D-A097-9394-5201F708AEE0}"/>
              </a:ext>
            </a:extLst>
          </p:cNvPr>
          <p:cNvSpPr/>
          <p:nvPr/>
        </p:nvSpPr>
        <p:spPr>
          <a:xfrm>
            <a:off x="2669177" y="1578667"/>
            <a:ext cx="2081349" cy="3866605"/>
          </a:xfrm>
          <a:prstGeom prst="roundRect">
            <a:avLst/>
          </a:prstGeom>
          <a:noFill/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B70F25-6DCE-7CA8-FE83-22BDDA4CDD07}"/>
              </a:ext>
            </a:extLst>
          </p:cNvPr>
          <p:cNvSpPr/>
          <p:nvPr/>
        </p:nvSpPr>
        <p:spPr>
          <a:xfrm>
            <a:off x="8057490" y="1568058"/>
            <a:ext cx="1618764" cy="4129374"/>
          </a:xfrm>
          <a:prstGeom prst="round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E5D9F-3284-EA83-1052-29212A65C579}"/>
              </a:ext>
            </a:extLst>
          </p:cNvPr>
          <p:cNvSpPr txBox="1"/>
          <p:nvPr/>
        </p:nvSpPr>
        <p:spPr>
          <a:xfrm>
            <a:off x="2742278" y="5697432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Input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26C64-A656-7863-E516-93321525B241}"/>
              </a:ext>
            </a:extLst>
          </p:cNvPr>
          <p:cNvSpPr txBox="1"/>
          <p:nvPr/>
        </p:nvSpPr>
        <p:spPr>
          <a:xfrm>
            <a:off x="5399898" y="5928264"/>
            <a:ext cx="2491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Hidden Layers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D2033-BD93-D7FF-B4E0-65FA13785B5C}"/>
              </a:ext>
            </a:extLst>
          </p:cNvPr>
          <p:cNvSpPr txBox="1"/>
          <p:nvPr/>
        </p:nvSpPr>
        <p:spPr>
          <a:xfrm>
            <a:off x="8291392" y="5896303"/>
            <a:ext cx="2316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129784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CA45-50C0-7369-B74A-4AD13500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6A260-B1ED-50F5-7072-01594C19C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is an optimization algorithm used to minimize the loss function of a model by updating weights.</a:t>
            </a:r>
          </a:p>
          <a:p>
            <a:r>
              <a:rPr lang="en-US" b="1" dirty="0"/>
              <a:t>Loss function (L): </a:t>
            </a:r>
            <a:r>
              <a:rPr lang="en-US" dirty="0"/>
              <a:t>Measures error between predictions and actual values.</a:t>
            </a:r>
          </a:p>
          <a:p>
            <a:r>
              <a:rPr lang="en-US" b="1" dirty="0"/>
              <a:t>Gradient: </a:t>
            </a:r>
            <a:r>
              <a:rPr lang="en-US" dirty="0"/>
              <a:t>Derivative of loss </a:t>
            </a:r>
            <a:r>
              <a:rPr lang="en-US" dirty="0" err="1"/>
              <a:t>w.r.t.</a:t>
            </a:r>
            <a:r>
              <a:rPr lang="en-US" dirty="0"/>
              <a:t> weights ( ∂L/∂w )</a:t>
            </a:r>
          </a:p>
          <a:p>
            <a:r>
              <a:rPr lang="en-US" b="1" dirty="0"/>
              <a:t>Update rule: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FD9FD-09C9-5208-3809-B94EAE8A6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7" y="4792356"/>
            <a:ext cx="3352924" cy="138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59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6486B-A30B-6C0A-FE17-D4DBA315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BCF33C-828E-D023-409B-AE0869149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847" y="1676310"/>
            <a:ext cx="4311872" cy="1752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ED776-790B-7AC3-7205-C06F502A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536" y="1555654"/>
            <a:ext cx="5772447" cy="18733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4846CF-AD38-B192-4438-A0C0A7821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7" y="3865553"/>
            <a:ext cx="5715294" cy="2140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26BD87-694A-42AC-7178-B5C13EE49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653" y="3865553"/>
            <a:ext cx="3504993" cy="22826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53561F-8847-5163-E507-279D4D6FFEE7}"/>
              </a:ext>
            </a:extLst>
          </p:cNvPr>
          <p:cNvSpPr txBox="1"/>
          <p:nvPr/>
        </p:nvSpPr>
        <p:spPr>
          <a:xfrm>
            <a:off x="2481944" y="342900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C7AC6-94BE-FFDA-76DD-A4DB6B50086A}"/>
              </a:ext>
            </a:extLst>
          </p:cNvPr>
          <p:cNvSpPr txBox="1"/>
          <p:nvPr/>
        </p:nvSpPr>
        <p:spPr>
          <a:xfrm>
            <a:off x="7310283" y="342900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Sigmoid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D0425A-5FBF-55F0-07C9-20C0EA168859}"/>
              </a:ext>
            </a:extLst>
          </p:cNvPr>
          <p:cNvSpPr txBox="1"/>
          <p:nvPr/>
        </p:nvSpPr>
        <p:spPr>
          <a:xfrm>
            <a:off x="2132511" y="6005613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tanh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3D60DC-26D1-3BC4-0AB9-19628E3D3C99}"/>
              </a:ext>
            </a:extLst>
          </p:cNvPr>
          <p:cNvSpPr txBox="1"/>
          <p:nvPr/>
        </p:nvSpPr>
        <p:spPr>
          <a:xfrm>
            <a:off x="7903554" y="5963585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RELU</a:t>
            </a:r>
          </a:p>
        </p:txBody>
      </p:sp>
    </p:spTree>
    <p:extLst>
      <p:ext uri="{BB962C8B-B14F-4D97-AF65-F5344CB8AC3E}">
        <p14:creationId xmlns:p14="http://schemas.microsoft.com/office/powerpoint/2010/main" val="3824959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09BF-EEFB-AA61-CD34-F463194C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12" y="69034"/>
            <a:ext cx="10515600" cy="1325563"/>
          </a:xfrm>
        </p:spPr>
        <p:txBody>
          <a:bodyPr/>
          <a:lstStyle/>
          <a:p>
            <a:r>
              <a:rPr lang="en-US" dirty="0"/>
              <a:t>Vanishing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560F6-B480-2ECA-5C85-C727BDCA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325"/>
            <a:ext cx="10515600" cy="5468983"/>
          </a:xfrm>
        </p:spPr>
        <p:txBody>
          <a:bodyPr>
            <a:normAutofit/>
          </a:bodyPr>
          <a:lstStyle/>
          <a:p>
            <a:r>
              <a:rPr lang="en-US" dirty="0"/>
              <a:t>Neural networks are trained using backpropagation.</a:t>
            </a:r>
          </a:p>
          <a:p>
            <a:r>
              <a:rPr lang="en-US" dirty="0"/>
              <a:t>During backpropagation, the gradient (partial derivative of loss </a:t>
            </a:r>
            <a:r>
              <a:rPr lang="en-US" dirty="0" err="1"/>
              <a:t>w.r.t.</a:t>
            </a:r>
            <a:r>
              <a:rPr lang="en-US" dirty="0"/>
              <a:t> weights) is propagated backward through layers.</a:t>
            </a:r>
          </a:p>
          <a:p>
            <a:r>
              <a:rPr lang="en-US" dirty="0"/>
              <a:t>If the activation function has very small derivatives (like sigmoid or tanh in extreme values), the gradients shrink as they move backward.</a:t>
            </a:r>
          </a:p>
          <a:p>
            <a:r>
              <a:rPr lang="en-US" dirty="0"/>
              <a:t>After many layers, gradients can become close to zero, so earlier layers stop learning (weights barely update).</a:t>
            </a:r>
          </a:p>
          <a:p>
            <a:r>
              <a:rPr lang="en-US" dirty="0"/>
              <a:t>This is called the Vanishing Gradient Problem.</a:t>
            </a:r>
          </a:p>
        </p:txBody>
      </p:sp>
    </p:spTree>
    <p:extLst>
      <p:ext uri="{BB962C8B-B14F-4D97-AF65-F5344CB8AC3E}">
        <p14:creationId xmlns:p14="http://schemas.microsoft.com/office/powerpoint/2010/main" val="371251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5B82-28DB-0B0F-A33B-2E22D3A4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321"/>
          </a:xfrm>
        </p:spPr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6853-C28A-258E-1DE5-B4AC69A1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992597"/>
          </a:xfrm>
        </p:spPr>
        <p:txBody>
          <a:bodyPr>
            <a:normAutofit/>
          </a:bodyPr>
          <a:lstStyle/>
          <a:p>
            <a:r>
              <a:rPr lang="en-US" dirty="0"/>
              <a:t>After weighted sum, value is passed through a non-linear activation function at each neuron. </a:t>
            </a:r>
          </a:p>
          <a:p>
            <a:r>
              <a:rPr lang="en-US" dirty="0"/>
              <a:t> Step function acts like a binary threshold but cannot capture complex patterns. </a:t>
            </a:r>
          </a:p>
          <a:p>
            <a:r>
              <a:rPr lang="en-US" dirty="0"/>
              <a:t>Step function is flat except x=0, thus no weight updates during backpropagation, network cannot learn. </a:t>
            </a:r>
          </a:p>
          <a:p>
            <a:r>
              <a:rPr lang="en-US" dirty="0"/>
              <a:t>Sigmoid function smooths S-Shape and map input to probabilities. It can cause vanishing gradients for large |x|</a:t>
            </a:r>
          </a:p>
          <a:p>
            <a:r>
              <a:rPr lang="en-US" dirty="0"/>
              <a:t>RELU passes positive values turns negatives to 0. Helps avoid vanishing gradients (for positive values).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649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62BA-ECFB-A5AB-8435-A0CB1C8A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54A1-72BB-E713-AED0-F3D3B5E5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Organizing for multiple classes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8CBD8-24F1-BE42-7D4A-5CD78C05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198" y="2541572"/>
            <a:ext cx="9029838" cy="34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55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4600-5FF9-5217-2899-8052458A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B6D8C-28D2-57A0-A26E-3D15EFB2D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Mutually Exclusive classes </a:t>
            </a:r>
            <a:r>
              <a:rPr lang="en-US" b="1" dirty="0"/>
              <a:t>(One-Hot Encoding)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103D7-3D0E-856C-35B8-FB573D1F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8" y="2480796"/>
            <a:ext cx="11400004" cy="344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65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932F-AA7A-6D21-FABE-A1BB2380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323C-F322-C45A-F1AA-FFAE29A2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402E-D667-A0D7-77A3-78DCB4593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Non-Exclusive classes </a:t>
            </a:r>
            <a:r>
              <a:rPr lang="en-US" b="1" dirty="0"/>
              <a:t>(One-Hot Encoding)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35F5A-AC3F-81E7-F90D-98A9EF009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02" y="2462655"/>
            <a:ext cx="11425596" cy="336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6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9D8F-F13A-B6D9-9D91-99F35691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F6F93-B398-D6A0-C34E-1A667CD14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4800" dirty="0"/>
              <a:t>Non-exclusive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sz="4400" dirty="0"/>
              <a:t>Sigmoid function</a:t>
            </a:r>
          </a:p>
          <a:p>
            <a:pPr lvl="2" fontAlgn="base">
              <a:buFont typeface="Courier New" panose="02070309020205020404" pitchFamily="49" charset="0"/>
              <a:buChar char="o"/>
            </a:pPr>
            <a:r>
              <a:rPr lang="en-US" sz="4000" dirty="0"/>
              <a:t> Each neuron will output a value  between 0 and 1, indicating the probability of having that class assigned to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37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8B3D-3113-EB50-F705-67FCE3B3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A4C5-32E4-D64B-9C40-AC36585B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C95D2-49B4-E278-D76F-99E95BA7E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Sigmoid function for Non-Exclusive classes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1B80D-02C5-BF09-F64A-28A2152CC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06" y="2469415"/>
            <a:ext cx="10932997" cy="370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676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05D0-3C09-27AE-91E9-E7F29768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FF7B-4336-9375-4F64-14E5F97D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318A-618C-F2B8-D509-7C4B4A9A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Sigmoid function for Non-Exclusive classes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A0C60-ACD2-4DCE-B668-5F633C3CC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603" y="2504076"/>
            <a:ext cx="3505596" cy="39887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C7E5F5-8803-9380-A6FC-2B54C965916A}"/>
              </a:ext>
            </a:extLst>
          </p:cNvPr>
          <p:cNvSpPr txBox="1"/>
          <p:nvPr/>
        </p:nvSpPr>
        <p:spPr>
          <a:xfrm>
            <a:off x="365760" y="2504076"/>
            <a:ext cx="67404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input, the sigmoid function outputs a probability value. In binary classification, this represents the probability of the input belonging to the positive class(between 0 and 1).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probability of the negative class can be obtained by subtracting this value from 1.</a:t>
            </a:r>
          </a:p>
        </p:txBody>
      </p:sp>
    </p:spTree>
    <p:extLst>
      <p:ext uri="{BB962C8B-B14F-4D97-AF65-F5344CB8AC3E}">
        <p14:creationId xmlns:p14="http://schemas.microsoft.com/office/powerpoint/2010/main" val="1954019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F46A-9B9A-67DA-8D51-8A7BC190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ADA1-0C90-7B04-D2E6-B891FF62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67F25-D486-589E-50D1-A56684EF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/>
              <a:t>Softmax</a:t>
            </a:r>
            <a:r>
              <a:rPr lang="en-US" sz="3200" dirty="0"/>
              <a:t> function for Exclusive classes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F42BA-F3BC-B34A-27C2-C5D35B99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46" y="2308652"/>
            <a:ext cx="6922284" cy="4003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D86E7F-9FB2-E0F7-8969-E194042B3817}"/>
              </a:ext>
            </a:extLst>
          </p:cNvPr>
          <p:cNvSpPr txBox="1"/>
          <p:nvPr/>
        </p:nvSpPr>
        <p:spPr>
          <a:xfrm>
            <a:off x="8548610" y="4001294"/>
            <a:ext cx="3474720" cy="246888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Montserrat" pitchFamily="2" charset="0"/>
              </a:rPr>
              <a:t>The probabilities for each class all sum up to 1. We choose the highest probability as our assignment.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7901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D1B9-A4CB-73E2-A193-6C4A246E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(Loss)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78B2-64E8-8418-C197-902FE8C0F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numerical value that quantifies as error which is the difference between a model's predicted and the actual value. </a:t>
            </a:r>
          </a:p>
          <a:p>
            <a:r>
              <a:rPr lang="en-US" dirty="0"/>
              <a:t>Quadratic cost function: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y(x) represent original value while a(x) represents predicted value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00CAC-8DBD-ECC4-E540-551B260C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19908"/>
            <a:ext cx="5092962" cy="140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65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9CD0-5046-83A9-78F8-B969757C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8CA8-26CF-EA8A-3DA0-306F7C62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(Loss)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EE98-9DFB-E669-A352-3CB58B6E0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Here is a small network with all its parameters labeled: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580099-C98B-7A7B-951E-E12970FC6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489" y="1953124"/>
            <a:ext cx="9090007" cy="472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991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9E9D-2BAC-44B0-A996-7AC2E563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C09E-1287-91D2-3ED3-28103765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(Loss)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8BAA6-6F33-035C-F264-7BB49AF9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3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   How do we figure out which weights lead us to the lowest cost?</a:t>
            </a:r>
          </a:p>
          <a:p>
            <a:pPr fontAlgn="base"/>
            <a:r>
              <a:rPr lang="en-US" sz="3200" dirty="0"/>
              <a:t>For simplicity, let’s imagine we only had one weight in our cost function </a:t>
            </a:r>
            <a:r>
              <a:rPr lang="en-US" sz="3200" b="1" dirty="0"/>
              <a:t>w.</a:t>
            </a:r>
            <a:endParaRPr lang="en-US" sz="3200" dirty="0"/>
          </a:p>
          <a:p>
            <a:pPr fontAlgn="base"/>
            <a:r>
              <a:rPr lang="en-US" sz="3200" dirty="0"/>
              <a:t>We want to </a:t>
            </a:r>
            <a:r>
              <a:rPr lang="en-US" sz="3200" b="1" dirty="0"/>
              <a:t>minimize</a:t>
            </a:r>
            <a:r>
              <a:rPr lang="en-US" sz="3200" dirty="0"/>
              <a:t> our loss/cost (overall error).</a:t>
            </a:r>
          </a:p>
          <a:p>
            <a:pPr fontAlgn="base"/>
            <a:r>
              <a:rPr lang="en-US" sz="3200" dirty="0"/>
              <a:t>Which means we need to figure out what value of </a:t>
            </a:r>
            <a:r>
              <a:rPr lang="en-US" sz="3200" b="1" dirty="0"/>
              <a:t>w</a:t>
            </a:r>
            <a:r>
              <a:rPr lang="en-US" sz="3200" dirty="0"/>
              <a:t> results in the minimum of </a:t>
            </a:r>
            <a:r>
              <a:rPr lang="en-US" sz="3200" b="1" dirty="0"/>
              <a:t>C(w)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385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670F-5FE3-24EB-378E-D48A9AA8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B047-5CEC-6345-32E8-6EF5CE7C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(Loss)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16EAD-D8C2-F11F-3140-C0DD61AB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3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sz="3200" dirty="0"/>
              <a:t>We want to </a:t>
            </a:r>
            <a:r>
              <a:rPr lang="en-US" sz="3200" b="1" dirty="0"/>
              <a:t>minimize</a:t>
            </a:r>
            <a:r>
              <a:rPr lang="en-US" sz="3200" dirty="0"/>
              <a:t> our loss/cost (overall error).</a:t>
            </a:r>
          </a:p>
          <a:p>
            <a:pPr fontAlgn="base"/>
            <a:r>
              <a:rPr lang="en-US" sz="3200" dirty="0"/>
              <a:t>Which means we need to figure out what value of </a:t>
            </a:r>
            <a:r>
              <a:rPr lang="en-US" sz="3200" b="1" dirty="0"/>
              <a:t>w</a:t>
            </a:r>
            <a:r>
              <a:rPr lang="en-US" sz="3200" dirty="0"/>
              <a:t> results in the minimum of </a:t>
            </a:r>
            <a:r>
              <a:rPr lang="en-US" sz="3200" b="1" dirty="0"/>
              <a:t>C(w)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296B7-AFDF-F8F3-3631-80FC96EB6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11" y="3114672"/>
            <a:ext cx="7359090" cy="337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31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F911-AA03-C239-9C91-90AB178E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CE2B-6DCB-190A-B1DB-1152967D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(Loss)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259BE-C260-2525-DACA-4295CA96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7" y="2177143"/>
            <a:ext cx="5934133" cy="25526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92D653-EB64-293A-7660-B61E746BE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66" y="1857101"/>
            <a:ext cx="6002982" cy="28727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4EFD2F-ABC7-B0D1-F9AA-C7F6A10324FD}"/>
              </a:ext>
            </a:extLst>
          </p:cNvPr>
          <p:cNvSpPr txBox="1"/>
          <p:nvPr/>
        </p:nvSpPr>
        <p:spPr>
          <a:xfrm>
            <a:off x="1010196" y="5000900"/>
            <a:ext cx="4432661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Smaller steps sizes take longer to find the minimum.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85C1E-7BED-8165-CBCC-BCEAA4E86C3A}"/>
              </a:ext>
            </a:extLst>
          </p:cNvPr>
          <p:cNvSpPr txBox="1"/>
          <p:nvPr/>
        </p:nvSpPr>
        <p:spPr>
          <a:xfrm>
            <a:off x="7224961" y="5000899"/>
            <a:ext cx="4766742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Larger steps are faster, but we risk overshooting the minimum!</a:t>
            </a:r>
          </a:p>
        </p:txBody>
      </p:sp>
    </p:spTree>
    <p:extLst>
      <p:ext uri="{BB962C8B-B14F-4D97-AF65-F5344CB8AC3E}">
        <p14:creationId xmlns:p14="http://schemas.microsoft.com/office/powerpoint/2010/main" val="351657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C6D6-0430-3C54-945D-0C91B2C8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E395C-F4E5-A7B1-5281-8B391FCC6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This step size is known as the learning rate.</a:t>
            </a:r>
          </a:p>
          <a:p>
            <a:r>
              <a:rPr lang="en-US" sz="3600" dirty="0"/>
              <a:t>Learning rate can be constant or varied. </a:t>
            </a:r>
          </a:p>
          <a:p>
            <a:r>
              <a:rPr lang="en-US" sz="3600" dirty="0"/>
              <a:t>Optimal approach is to start with larger steps, then go smaller as we realize the slope gets closer to zero. This is known as </a:t>
            </a:r>
            <a:r>
              <a:rPr lang="en-US" sz="3600" b="1" dirty="0"/>
              <a:t>adaptive gradient descent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23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6D2FE-FDF1-E8CF-5F11-DCB0C635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CF4F-30C2-BB06-81AC-2ECD1C0A0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15208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Adam is an optimizer which is used to train ANN.</a:t>
            </a:r>
          </a:p>
          <a:p>
            <a:r>
              <a:rPr lang="en-US" dirty="0"/>
              <a:t>Adam tends to find minimum loss by calculating updated weights(W) and bias(b) by adjusting  adaptive gradient descent.</a:t>
            </a:r>
          </a:p>
          <a:p>
            <a:r>
              <a:rPr lang="en-US" dirty="0"/>
              <a:t>This optimizer is built-in into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Tensorflow</a:t>
            </a:r>
            <a:r>
              <a:rPr lang="en-US" dirty="0"/>
              <a:t>/</a:t>
            </a:r>
            <a:r>
              <a:rPr lang="en-US" dirty="0" err="1"/>
              <a:t>pytorch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614A71-7053-33FB-2E42-2151FB5EA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834" y="2846388"/>
            <a:ext cx="4135046" cy="401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217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A2F9F-483F-B944-18AA-21226633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580711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dirty="0"/>
              <a:t>Convolutional Neural Network</a:t>
            </a:r>
            <a:r>
              <a:rPr lang="en-US" sz="3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CNN</a:t>
            </a:r>
            <a:endParaRPr dirty="0"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know it is good to learn a small model.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this fully connected model, do we really need all the edges? 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some of these be shared?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3429000"/>
            <a:ext cx="6705600" cy="33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learning an image: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2152650" y="1825626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patterns are much smaller than the whole image</a:t>
            </a:r>
            <a:endParaRPr/>
          </a:p>
        </p:txBody>
      </p:sp>
      <p:pic>
        <p:nvPicPr>
          <p:cNvPr id="116" name="Google Shape;116;p15" descr="https://upload.wikimedia.org/wikipedia/commons/5/5e/Silverbird_in_Murchison_Falls_National_Park,_Ugand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8901" y="4692650"/>
            <a:ext cx="24860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 txBox="1"/>
          <p:nvPr/>
        </p:nvSpPr>
        <p:spPr>
          <a:xfrm>
            <a:off x="1679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8163" y="4738688"/>
            <a:ext cx="1296987" cy="113982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19" name="Google Shape;11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1512" y="4656138"/>
            <a:ext cx="2151062" cy="12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7696201" y="5867400"/>
            <a:ext cx="2422525" cy="601662"/>
          </a:xfrm>
          <a:prstGeom prst="wedgeRoundRectCallout">
            <a:avLst>
              <a:gd name="adj1" fmla="val 7282"/>
              <a:gd name="adj2" fmla="val -9113"/>
              <a:gd name="adj3" fmla="val 0"/>
            </a:avLst>
          </a:prstGeom>
          <a:solidFill>
            <a:schemeClr val="accent2"/>
          </a:solidFill>
          <a:ln w="25400" cap="flat" cmpd="sng">
            <a:solidFill>
              <a:srgbClr val="9F9E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beak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detector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997200" y="4738687"/>
            <a:ext cx="406400" cy="3794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15"/>
          <p:cNvCxnSpPr/>
          <p:nvPr/>
        </p:nvCxnSpPr>
        <p:spPr>
          <a:xfrm>
            <a:off x="3403600" y="4927600"/>
            <a:ext cx="2214562" cy="381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3" name="Google Shape;123;p15"/>
          <p:cNvSpPr txBox="1"/>
          <p:nvPr/>
        </p:nvSpPr>
        <p:spPr>
          <a:xfrm>
            <a:off x="2667000" y="3636679"/>
            <a:ext cx="7391400" cy="461665"/>
          </a:xfrm>
          <a:prstGeom prst="rect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represent a small region with fewer parameters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http://all4desktop.com/data_images/original/4244361-bir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3163" y="4476751"/>
            <a:ext cx="2486025" cy="179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821055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800"/>
            </a:pPr>
            <a:r>
              <a:rPr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 pattern appears in different places:</a:t>
            </a:r>
            <a:br>
              <a:rPr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They can be compressed!</a:t>
            </a:r>
            <a:br>
              <a:rPr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about training a lot of such “small” detectors</a:t>
            </a:r>
            <a:b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each detector must “move around”.</a:t>
            </a:r>
            <a:endParaRPr/>
          </a:p>
        </p:txBody>
      </p:sp>
      <p:pic>
        <p:nvPicPr>
          <p:cNvPr id="130" name="Google Shape;130;p16" descr="https://upload.wikimedia.org/wikipedia/commons/5/5e/Silverbird_in_Murchison_Falls_National_Park,_Ugand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3163" y="2578100"/>
            <a:ext cx="24860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 txBox="1"/>
          <p:nvPr/>
        </p:nvSpPr>
        <p:spPr>
          <a:xfrm>
            <a:off x="1679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0500" y="2868613"/>
            <a:ext cx="2151062" cy="12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6599238" y="2425700"/>
            <a:ext cx="3303587" cy="952500"/>
          </a:xfrm>
          <a:prstGeom prst="cloudCallout">
            <a:avLst>
              <a:gd name="adj1" fmla="val 367"/>
              <a:gd name="adj2" fmla="val 22872"/>
            </a:avLst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“upper-left beak” detector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2813050" y="2628900"/>
            <a:ext cx="406400" cy="3794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327400" y="4994275"/>
            <a:ext cx="406400" cy="3794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97476" y="4652963"/>
            <a:ext cx="22955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6599306" y="5513706"/>
            <a:ext cx="3303662" cy="951706"/>
          </a:xfrm>
          <a:prstGeom prst="cloudCallout">
            <a:avLst>
              <a:gd name="adj1" fmla="val -40531"/>
              <a:gd name="adj2" fmla="val -60650"/>
            </a:avLst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“middle beak” detector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172200" y="4038600"/>
            <a:ext cx="36576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can be compressed</a:t>
            </a:r>
            <a:endParaRPr/>
          </a:p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same parameters.</a:t>
            </a:r>
            <a:endParaRPr/>
          </a:p>
        </p:txBody>
      </p:sp>
      <p:cxnSp>
        <p:nvCxnSpPr>
          <p:cNvPr id="139" name="Google Shape;139;p16"/>
          <p:cNvCxnSpPr/>
          <p:nvPr/>
        </p:nvCxnSpPr>
        <p:spPr>
          <a:xfrm>
            <a:off x="5969000" y="3768725"/>
            <a:ext cx="0" cy="133985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convolutional layer</a:t>
            </a:r>
            <a:endParaRPr/>
          </a:p>
        </p:txBody>
      </p:sp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0" y="3124200"/>
            <a:ext cx="38481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943600" y="5486401"/>
            <a:ext cx="838200" cy="3698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filter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828800" y="1447800"/>
            <a:ext cx="8482012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CNN is a neural network with some convolutional layers </a:t>
            </a:r>
            <a:endParaRPr/>
          </a:p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(and some other layers).  A convolutional layer has a number </a:t>
            </a:r>
            <a:endParaRPr/>
          </a:p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filters that does convolutional operation. 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334001" y="3429001"/>
            <a:ext cx="16097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Beak detector</a:t>
            </a:r>
            <a:endParaRPr/>
          </a:p>
        </p:txBody>
      </p:sp>
      <p:cxnSp>
        <p:nvCxnSpPr>
          <p:cNvPr id="149" name="Google Shape;149;p17"/>
          <p:cNvCxnSpPr/>
          <p:nvPr/>
        </p:nvCxnSpPr>
        <p:spPr>
          <a:xfrm>
            <a:off x="6019800" y="3810000"/>
            <a:ext cx="0" cy="3048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graphicFrame>
        <p:nvGraphicFramePr>
          <p:cNvPr id="155" name="Google Shape;155;p18"/>
          <p:cNvGraphicFramePr/>
          <p:nvPr/>
        </p:nvGraphicFramePr>
        <p:xfrm>
          <a:off x="2509837" y="2398712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6" name="Google Shape;156;p18"/>
          <p:cNvSpPr txBox="1"/>
          <p:nvPr/>
        </p:nvSpPr>
        <p:spPr>
          <a:xfrm>
            <a:off x="2773363" y="5389563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graphicFrame>
        <p:nvGraphicFramePr>
          <p:cNvPr id="157" name="Google Shape;157;p18"/>
          <p:cNvGraphicFramePr/>
          <p:nvPr/>
        </p:nvGraphicFramePr>
        <p:xfrm>
          <a:off x="6783387" y="2068512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8" name="Google Shape;158;p18"/>
          <p:cNvSpPr txBox="1"/>
          <p:nvPr/>
        </p:nvSpPr>
        <p:spPr>
          <a:xfrm>
            <a:off x="8315325" y="2420937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graphicFrame>
        <p:nvGraphicFramePr>
          <p:cNvPr id="159" name="Google Shape;159;p18"/>
          <p:cNvGraphicFramePr/>
          <p:nvPr/>
        </p:nvGraphicFramePr>
        <p:xfrm>
          <a:off x="6783387" y="3694112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0" name="Google Shape;160;p18"/>
          <p:cNvSpPr txBox="1"/>
          <p:nvPr/>
        </p:nvSpPr>
        <p:spPr>
          <a:xfrm>
            <a:off x="8315325" y="4032250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 rot="5400000">
            <a:off x="7354094" y="5018892"/>
            <a:ext cx="70802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553200" y="1004887"/>
            <a:ext cx="396240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These are the network parameters to be learned.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37350" y="5849937"/>
            <a:ext cx="355600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filter detects a small pattern (3 x 3).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graphicFrame>
        <p:nvGraphicFramePr>
          <p:cNvPr id="169" name="Google Shape;169;p19"/>
          <p:cNvGraphicFramePr/>
          <p:nvPr/>
        </p:nvGraphicFramePr>
        <p:xfrm>
          <a:off x="2509837" y="2398712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0" name="Google Shape;170;p19"/>
          <p:cNvSpPr txBox="1"/>
          <p:nvPr/>
        </p:nvSpPr>
        <p:spPr>
          <a:xfrm>
            <a:off x="2773363" y="5389563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graphicFrame>
        <p:nvGraphicFramePr>
          <p:cNvPr id="171" name="Google Shape;171;p19"/>
          <p:cNvGraphicFramePr/>
          <p:nvPr/>
        </p:nvGraphicFramePr>
        <p:xfrm>
          <a:off x="7088187" y="477837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2" name="Google Shape;172;p19"/>
          <p:cNvSpPr txBox="1"/>
          <p:nvPr/>
        </p:nvSpPr>
        <p:spPr>
          <a:xfrm>
            <a:off x="8710612" y="933450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2509837" y="239871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246813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7088188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008313" y="2398712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2690813" y="1731962"/>
            <a:ext cx="120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stride=1</a:t>
            </a:r>
            <a:endParaRPr/>
          </a:p>
        </p:txBody>
      </p:sp>
      <p:cxnSp>
        <p:nvCxnSpPr>
          <p:cNvPr id="178" name="Google Shape;178;p19"/>
          <p:cNvCxnSpPr/>
          <p:nvPr/>
        </p:nvCxnSpPr>
        <p:spPr>
          <a:xfrm>
            <a:off x="5486400" y="3124200"/>
            <a:ext cx="685800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179" name="Google Shape;179;p19"/>
          <p:cNvSpPr txBox="1"/>
          <p:nvPr/>
        </p:nvSpPr>
        <p:spPr>
          <a:xfrm>
            <a:off x="5410201" y="2438400"/>
            <a:ext cx="95408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 </a:t>
            </a:r>
            <a:endParaRPr/>
          </a:p>
          <a:p>
            <a:pPr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2509837" y="2398712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6" name="Google Shape;186;p20"/>
          <p:cNvSpPr txBox="1"/>
          <p:nvPr/>
        </p:nvSpPr>
        <p:spPr>
          <a:xfrm>
            <a:off x="2773363" y="5389563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7088187" y="477837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8710612" y="933450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2509837" y="239871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246813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088188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3487737" y="239871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690812" y="1731962"/>
            <a:ext cx="14478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stride=2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2509837" y="2398712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0" name="Google Shape;200;p21"/>
          <p:cNvSpPr txBox="1"/>
          <p:nvPr/>
        </p:nvSpPr>
        <p:spPr>
          <a:xfrm>
            <a:off x="2773363" y="5389563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7088187" y="477837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2" name="Google Shape;202;p21"/>
          <p:cNvSpPr txBox="1"/>
          <p:nvPr/>
        </p:nvSpPr>
        <p:spPr>
          <a:xfrm>
            <a:off x="8710612" y="933450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2509837" y="239871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246813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088188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7929563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8786812" y="2787650"/>
            <a:ext cx="720600" cy="720600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6246813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7088188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7929563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8770938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6246813" y="44465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7088188" y="44465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7929563" y="44465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8770938" y="44465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6256338" y="525938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7088188" y="52466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7929563" y="52466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8770938" y="52466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3008313" y="2398712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454401" y="2401887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957637" y="240506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509837" y="2809875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690813" y="1731962"/>
            <a:ext cx="120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stride=1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957637" y="3767137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088188" y="477837"/>
            <a:ext cx="523875" cy="455612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7643812" y="936625"/>
            <a:ext cx="525462" cy="455612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8169276" y="1404937"/>
            <a:ext cx="523875" cy="455612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>
            <a:off x="7088187" y="477837"/>
            <a:ext cx="1604962" cy="1382712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0" name="Google Shape;230;p21"/>
          <p:cNvSpPr txBox="1"/>
          <p:nvPr/>
        </p:nvSpPr>
        <p:spPr>
          <a:xfrm>
            <a:off x="6237287" y="2786063"/>
            <a:ext cx="728662" cy="708025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256337" y="5262563"/>
            <a:ext cx="728662" cy="708025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2452687" y="2425700"/>
            <a:ext cx="1606550" cy="1382712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3" name="Google Shape;233;p21"/>
          <p:cNvCxnSpPr/>
          <p:nvPr/>
        </p:nvCxnSpPr>
        <p:spPr>
          <a:xfrm>
            <a:off x="2405062" y="3760787"/>
            <a:ext cx="1604962" cy="1382712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graphicFrame>
        <p:nvGraphicFramePr>
          <p:cNvPr id="239" name="Google Shape;239;p22"/>
          <p:cNvGraphicFramePr/>
          <p:nvPr/>
        </p:nvGraphicFramePr>
        <p:xfrm>
          <a:off x="2509837" y="2398712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0" name="Google Shape;240;p22"/>
          <p:cNvSpPr txBox="1"/>
          <p:nvPr/>
        </p:nvSpPr>
        <p:spPr>
          <a:xfrm>
            <a:off x="2773363" y="5389563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6246813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088188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7929563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8770938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6246813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7088188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7929563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8770938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6246813" y="44465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7088188" y="44465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7929563" y="44465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8770938" y="44465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246813" y="52466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7088188" y="5246688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7929563" y="52466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8770938" y="5246688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graphicFrame>
        <p:nvGraphicFramePr>
          <p:cNvPr id="257" name="Google Shape;257;p22"/>
          <p:cNvGraphicFramePr/>
          <p:nvPr/>
        </p:nvGraphicFramePr>
        <p:xfrm>
          <a:off x="7210425" y="365125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8" name="Google Shape;258;p22"/>
          <p:cNvSpPr txBox="1"/>
          <p:nvPr/>
        </p:nvSpPr>
        <p:spPr>
          <a:xfrm>
            <a:off x="8832850" y="820738"/>
            <a:ext cx="14478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FF0000"/>
              </a:buClr>
              <a:buSzPts val="2400"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2509837" y="239871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3013076" y="2398712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454401" y="2400300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3930651" y="2398712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2509837" y="2809875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429376" y="2995613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7270751" y="2995613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8113713" y="2995613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8955088" y="2995613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6429376" y="3795713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7270751" y="3795713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8113713" y="3795713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8955088" y="3795713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429376" y="4654551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7270751" y="4654551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8113713" y="4654551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8955088" y="4654551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6429376" y="5454651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7270751" y="5454651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8113713" y="5454651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8955088" y="5454651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5943600" y="2057401"/>
            <a:ext cx="4572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FF"/>
              </a:buClr>
              <a:buSzPts val="2800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Repeat this for each filter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3940175" y="3783012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2690813" y="1731962"/>
            <a:ext cx="120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stride=1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6477000" y="6172201"/>
            <a:ext cx="36576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FF0000"/>
              </a:buClr>
              <a:buSzPts val="2000"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4 x 4 images</a:t>
            </a:r>
            <a:endParaRPr/>
          </a:p>
          <a:p>
            <a:pPr algn="ctr">
              <a:buClr>
                <a:srgbClr val="FF0000"/>
              </a:buClr>
              <a:buSzPts val="2000"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Forming 2 x 4 x 4 matrix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858001" y="4038601"/>
            <a:ext cx="2320925" cy="973137"/>
          </a:xfrm>
          <a:prstGeom prst="rect">
            <a:avLst/>
          </a:prstGeom>
          <a:solidFill>
            <a:srgbClr val="E2E2FF"/>
          </a:solidFill>
          <a:ln w="25400" cap="flat" cmpd="sng">
            <a:solidFill>
              <a:srgbClr val="A6A6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  <a:p>
            <a:pPr algn="ctr">
              <a:buClr>
                <a:srgbClr val="000000"/>
              </a:buClr>
              <a:buSzPts val="2800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Color image: RGB 3 channels</a:t>
            </a:r>
            <a:endParaRPr/>
          </a:p>
        </p:txBody>
      </p:sp>
      <p:graphicFrame>
        <p:nvGraphicFramePr>
          <p:cNvPr id="290" name="Google Shape;290;p23"/>
          <p:cNvGraphicFramePr/>
          <p:nvPr/>
        </p:nvGraphicFramePr>
        <p:xfrm>
          <a:off x="6478587" y="3441700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1" name="Google Shape;291;p23"/>
          <p:cNvGraphicFramePr/>
          <p:nvPr/>
        </p:nvGraphicFramePr>
        <p:xfrm>
          <a:off x="6642100" y="3648075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2" name="Google Shape;292;p23"/>
          <p:cNvGraphicFramePr/>
          <p:nvPr/>
        </p:nvGraphicFramePr>
        <p:xfrm>
          <a:off x="6848475" y="3849687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3" name="Google Shape;293;p23"/>
          <p:cNvGraphicFramePr/>
          <p:nvPr/>
        </p:nvGraphicFramePr>
        <p:xfrm>
          <a:off x="4491037" y="1614487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4" name="Google Shape;294;p23"/>
          <p:cNvSpPr txBox="1"/>
          <p:nvPr/>
        </p:nvSpPr>
        <p:spPr>
          <a:xfrm>
            <a:off x="6200775" y="2341562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graphicFrame>
        <p:nvGraphicFramePr>
          <p:cNvPr id="295" name="Google Shape;295;p23"/>
          <p:cNvGraphicFramePr/>
          <p:nvPr/>
        </p:nvGraphicFramePr>
        <p:xfrm>
          <a:off x="7496175" y="1573212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6" name="Google Shape;296;p23"/>
          <p:cNvSpPr txBox="1"/>
          <p:nvPr/>
        </p:nvSpPr>
        <p:spPr>
          <a:xfrm>
            <a:off x="9204326" y="2301876"/>
            <a:ext cx="144938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/>
          </a:p>
        </p:txBody>
      </p:sp>
      <p:graphicFrame>
        <p:nvGraphicFramePr>
          <p:cNvPr id="297" name="Google Shape;297;p23"/>
          <p:cNvGraphicFramePr/>
          <p:nvPr/>
        </p:nvGraphicFramePr>
        <p:xfrm>
          <a:off x="4643437" y="1766887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8" name="Google Shape;298;p23"/>
          <p:cNvGraphicFramePr/>
          <p:nvPr/>
        </p:nvGraphicFramePr>
        <p:xfrm>
          <a:off x="4795837" y="1882775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9" name="Google Shape;299;p23"/>
          <p:cNvGraphicFramePr/>
          <p:nvPr/>
        </p:nvGraphicFramePr>
        <p:xfrm>
          <a:off x="7648575" y="1708150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0" name="Google Shape;300;p23"/>
          <p:cNvGraphicFramePr/>
          <p:nvPr/>
        </p:nvGraphicFramePr>
        <p:xfrm>
          <a:off x="7800975" y="1860550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1" name="Google Shape;301;p23"/>
          <p:cNvSpPr/>
          <p:nvPr/>
        </p:nvSpPr>
        <p:spPr>
          <a:xfrm>
            <a:off x="5819775" y="4379912"/>
            <a:ext cx="508000" cy="868362"/>
          </a:xfrm>
          <a:prstGeom prst="right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23"/>
          <p:cNvGrpSpPr/>
          <p:nvPr/>
        </p:nvGrpSpPr>
        <p:grpSpPr>
          <a:xfrm>
            <a:off x="1878013" y="3059112"/>
            <a:ext cx="3927475" cy="3630612"/>
            <a:chOff x="353684" y="3059766"/>
            <a:chExt cx="3927508" cy="3629534"/>
          </a:xfrm>
        </p:grpSpPr>
        <p:pic>
          <p:nvPicPr>
            <p:cNvPr id="303" name="Google Shape;303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4122" y="3442427"/>
              <a:ext cx="3907070" cy="3246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3"/>
            <p:cNvSpPr txBox="1"/>
            <p:nvPr/>
          </p:nvSpPr>
          <p:spPr>
            <a:xfrm>
              <a:off x="353684" y="3059766"/>
              <a:ext cx="19976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400"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Color image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24"/>
          <p:cNvGraphicFramePr/>
          <p:nvPr/>
        </p:nvGraphicFramePr>
        <p:xfrm>
          <a:off x="2974975" y="1289050"/>
          <a:ext cx="1804950" cy="1723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25" marB="28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0" name="Google Shape;310;p24"/>
          <p:cNvSpPr txBox="1"/>
          <p:nvPr/>
        </p:nvSpPr>
        <p:spPr>
          <a:xfrm>
            <a:off x="3254376" y="3013075"/>
            <a:ext cx="12461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/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462" y="1312862"/>
            <a:ext cx="1916112" cy="18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/>
          <p:nvPr/>
        </p:nvSpPr>
        <p:spPr>
          <a:xfrm>
            <a:off x="5197476" y="2151062"/>
            <a:ext cx="1881187" cy="666750"/>
          </a:xfrm>
          <a:prstGeom prst="rightArrow">
            <a:avLst>
              <a:gd name="adj1" fmla="val 17772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5181600" y="2743200"/>
            <a:ext cx="20050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</p:txBody>
      </p:sp>
      <p:graphicFrame>
        <p:nvGraphicFramePr>
          <p:cNvPr id="314" name="Google Shape;314;p24"/>
          <p:cNvGraphicFramePr/>
          <p:nvPr/>
        </p:nvGraphicFramePr>
        <p:xfrm>
          <a:off x="6110287" y="1268412"/>
          <a:ext cx="963600" cy="8143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4325" marR="54325" marT="27150" marB="2715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5" name="Google Shape;315;p24"/>
          <p:cNvGraphicFramePr/>
          <p:nvPr/>
        </p:nvGraphicFramePr>
        <p:xfrm>
          <a:off x="5027612" y="1273175"/>
          <a:ext cx="947700" cy="8017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3425" marR="53425" marT="26700" marB="26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6" name="Google Shape;316;p24"/>
          <p:cNvSpPr txBox="1"/>
          <p:nvPr/>
        </p:nvSpPr>
        <p:spPr>
          <a:xfrm>
            <a:off x="2565401" y="1046162"/>
            <a:ext cx="7089775" cy="26035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6796088" y="3898901"/>
            <a:ext cx="498475" cy="2624137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6864350" y="4616450"/>
            <a:ext cx="342900" cy="342900"/>
          </a:xfrm>
          <a:prstGeom prst="rect">
            <a:avLst/>
          </a:prstGeom>
          <a:gradFill>
            <a:gsLst>
              <a:gs pos="0">
                <a:srgbClr val="EDEDED"/>
              </a:gs>
              <a:gs pos="65000">
                <a:srgbClr val="D0D0D0"/>
              </a:gs>
              <a:gs pos="100000">
                <a:srgbClr val="BCBCBC"/>
              </a:gs>
            </a:gsLst>
            <a:lin ang="5400000" scaled="0"/>
          </a:gra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6870700" y="4044950"/>
            <a:ext cx="342900" cy="342900"/>
          </a:xfrm>
          <a:prstGeom prst="rect">
            <a:avLst/>
          </a:prstGeom>
          <a:gradFill>
            <a:gsLst>
              <a:gs pos="0">
                <a:srgbClr val="EDEDED"/>
              </a:gs>
              <a:gs pos="65000">
                <a:srgbClr val="D0D0D0"/>
              </a:gs>
              <a:gs pos="100000">
                <a:srgbClr val="BCBCBC"/>
              </a:gs>
            </a:gsLst>
            <a:lin ang="5400000" scaled="0"/>
          </a:gra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3401" y="3949700"/>
            <a:ext cx="325437" cy="46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8163" y="4533900"/>
            <a:ext cx="352425" cy="46196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8350251" y="3870326"/>
            <a:ext cx="746125" cy="26765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8458201" y="3886201"/>
            <a:ext cx="574675" cy="57467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8450263" y="4660901"/>
            <a:ext cx="573087" cy="57308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8437563" y="5888038"/>
            <a:ext cx="574675" cy="57467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 rot="5400000">
            <a:off x="8435975" y="5095092"/>
            <a:ext cx="76835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873875" y="6013450"/>
            <a:ext cx="342900" cy="342900"/>
          </a:xfrm>
          <a:prstGeom prst="rect">
            <a:avLst/>
          </a:prstGeom>
          <a:gradFill>
            <a:gsLst>
              <a:gs pos="0">
                <a:srgbClr val="EDEDED"/>
              </a:gs>
              <a:gs pos="65000">
                <a:srgbClr val="D0D0D0"/>
              </a:gs>
              <a:gs pos="100000">
                <a:srgbClr val="BCBCBC"/>
              </a:gs>
            </a:gsLst>
            <a:lin ang="5400000" scaled="0"/>
          </a:gra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3712" y="5918200"/>
            <a:ext cx="461962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4"/>
          <p:cNvSpPr txBox="1"/>
          <p:nvPr/>
        </p:nvSpPr>
        <p:spPr>
          <a:xfrm rot="5400000">
            <a:off x="6765131" y="5044292"/>
            <a:ext cx="76835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/>
          </a:p>
        </p:txBody>
      </p:sp>
      <p:cxnSp>
        <p:nvCxnSpPr>
          <p:cNvPr id="330" name="Google Shape;330;p24"/>
          <p:cNvCxnSpPr/>
          <p:nvPr/>
        </p:nvCxnSpPr>
        <p:spPr>
          <a:xfrm rot="10800000" flipH="1">
            <a:off x="7219950" y="4173537"/>
            <a:ext cx="1238250" cy="127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1" name="Google Shape;331;p24"/>
          <p:cNvCxnSpPr/>
          <p:nvPr/>
        </p:nvCxnSpPr>
        <p:spPr>
          <a:xfrm>
            <a:off x="7213600" y="4216400"/>
            <a:ext cx="1236662" cy="7302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2" name="Google Shape;332;p24"/>
          <p:cNvCxnSpPr/>
          <p:nvPr/>
        </p:nvCxnSpPr>
        <p:spPr>
          <a:xfrm>
            <a:off x="7213600" y="4216401"/>
            <a:ext cx="1223962" cy="19589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3" name="Google Shape;333;p24"/>
          <p:cNvCxnSpPr/>
          <p:nvPr/>
        </p:nvCxnSpPr>
        <p:spPr>
          <a:xfrm rot="10800000" flipH="1">
            <a:off x="7251700" y="4173537"/>
            <a:ext cx="1206500" cy="59531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4" name="Google Shape;334;p24"/>
          <p:cNvCxnSpPr/>
          <p:nvPr/>
        </p:nvCxnSpPr>
        <p:spPr>
          <a:xfrm>
            <a:off x="7207250" y="4787900"/>
            <a:ext cx="1243012" cy="1587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5" name="Google Shape;335;p24"/>
          <p:cNvCxnSpPr/>
          <p:nvPr/>
        </p:nvCxnSpPr>
        <p:spPr>
          <a:xfrm>
            <a:off x="7207250" y="4787901"/>
            <a:ext cx="1230312" cy="13874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6" name="Google Shape;336;p24"/>
          <p:cNvCxnSpPr/>
          <p:nvPr/>
        </p:nvCxnSpPr>
        <p:spPr>
          <a:xfrm rot="10800000" flipH="1">
            <a:off x="7316787" y="4173537"/>
            <a:ext cx="1141412" cy="1993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7" name="Google Shape;337;p24"/>
          <p:cNvCxnSpPr/>
          <p:nvPr/>
        </p:nvCxnSpPr>
        <p:spPr>
          <a:xfrm rot="10800000" flipH="1">
            <a:off x="7305676" y="4946651"/>
            <a:ext cx="1144587" cy="121602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8" name="Google Shape;338;p24"/>
          <p:cNvCxnSpPr/>
          <p:nvPr/>
        </p:nvCxnSpPr>
        <p:spPr>
          <a:xfrm>
            <a:off x="7305676" y="6162675"/>
            <a:ext cx="1131887" cy="127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graphicFrame>
        <p:nvGraphicFramePr>
          <p:cNvPr id="339" name="Google Shape;339;p24"/>
          <p:cNvGraphicFramePr/>
          <p:nvPr/>
        </p:nvGraphicFramePr>
        <p:xfrm>
          <a:off x="4856162" y="4275137"/>
          <a:ext cx="1804950" cy="1722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7425" marR="57425" marT="28700" marB="28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0" name="Google Shape;340;p24"/>
          <p:cNvSpPr txBox="1"/>
          <p:nvPr/>
        </p:nvSpPr>
        <p:spPr>
          <a:xfrm>
            <a:off x="1843087" y="150812"/>
            <a:ext cx="5638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200" b="1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Convolution v.s. Fully Connected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3000375" y="4687888"/>
            <a:ext cx="193675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Fully-connected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8256588" y="3797300"/>
            <a:ext cx="915987" cy="2749550"/>
          </a:xfrm>
          <a:prstGeom prst="rect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7191376" y="1233487"/>
            <a:ext cx="2084387" cy="2057400"/>
          </a:xfrm>
          <a:prstGeom prst="rect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25"/>
          <p:cNvGraphicFramePr/>
          <p:nvPr/>
        </p:nvGraphicFramePr>
        <p:xfrm>
          <a:off x="1924050" y="1849437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9" name="Google Shape;349;p25"/>
          <p:cNvSpPr txBox="1"/>
          <p:nvPr/>
        </p:nvSpPr>
        <p:spPr>
          <a:xfrm>
            <a:off x="2232025" y="4640262"/>
            <a:ext cx="23479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graphicFrame>
        <p:nvGraphicFramePr>
          <p:cNvPr id="350" name="Google Shape;350;p25"/>
          <p:cNvGraphicFramePr/>
          <p:nvPr/>
        </p:nvGraphicFramePr>
        <p:xfrm>
          <a:off x="1924050" y="152400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1" name="Google Shape;351;p25"/>
          <p:cNvSpPr txBox="1"/>
          <p:nvPr/>
        </p:nvSpPr>
        <p:spPr>
          <a:xfrm>
            <a:off x="3370262" y="236537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24051" y="1849437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0376" y="1196976"/>
            <a:ext cx="2239963" cy="222726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cxnSp>
        <p:nvCxnSpPr>
          <p:cNvPr id="354" name="Google Shape;354;p25"/>
          <p:cNvCxnSpPr/>
          <p:nvPr/>
        </p:nvCxnSpPr>
        <p:spPr>
          <a:xfrm>
            <a:off x="3546476" y="838200"/>
            <a:ext cx="860425" cy="56991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55" name="Google Shape;355;p25"/>
          <p:cNvCxnSpPr/>
          <p:nvPr/>
        </p:nvCxnSpPr>
        <p:spPr>
          <a:xfrm rot="10800000" flipH="1">
            <a:off x="3363913" y="1571625"/>
            <a:ext cx="1042987" cy="965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56" name="Google Shape;356;p25"/>
          <p:cNvSpPr txBox="1"/>
          <p:nvPr/>
        </p:nvSpPr>
        <p:spPr>
          <a:xfrm>
            <a:off x="6969125" y="49212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57" name="Google Shape;357;p25"/>
          <p:cNvSpPr txBox="1"/>
          <p:nvPr/>
        </p:nvSpPr>
        <p:spPr>
          <a:xfrm>
            <a:off x="6969125" y="511175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6969125" y="960437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 rot="5400000">
            <a:off x="6832601" y="1811338"/>
            <a:ext cx="820737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6985000" y="2701926"/>
            <a:ext cx="38735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6985000" y="3151187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 rot="5400000">
            <a:off x="6970712" y="3987801"/>
            <a:ext cx="539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6826251" y="4438650"/>
            <a:ext cx="5222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6819901" y="4902200"/>
            <a:ext cx="5238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6819900" y="5380037"/>
            <a:ext cx="5969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 rot="5400000">
            <a:off x="7019131" y="6217444"/>
            <a:ext cx="42386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8020051" y="5303837"/>
            <a:ext cx="2370137" cy="1200150"/>
          </a:xfrm>
          <a:prstGeom prst="rect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connect to 9 inputs, not fully connected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6978651" y="1408112"/>
            <a:ext cx="38893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6753225" y="3562350"/>
            <a:ext cx="63976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6815137" y="5789612"/>
            <a:ext cx="5969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7412038" y="14605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7412038" y="614363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7412038" y="1057276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7412038" y="1517650"/>
            <a:ext cx="269875" cy="27146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>
            <a:off x="7412038" y="235585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7412038" y="282575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7412038" y="3267076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7412038" y="3729038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7412038" y="4519613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7412038" y="4987926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7412038" y="5430838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2" name="Google Shape;382;p25"/>
          <p:cNvSpPr txBox="1"/>
          <p:nvPr/>
        </p:nvSpPr>
        <p:spPr>
          <a:xfrm>
            <a:off x="7412038" y="589280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383" name="Google Shape;383;p25"/>
          <p:cNvCxnSpPr/>
          <p:nvPr/>
        </p:nvCxnSpPr>
        <p:spPr>
          <a:xfrm>
            <a:off x="7681912" y="280987"/>
            <a:ext cx="1420812" cy="127635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4" name="Google Shape;384;p25"/>
          <p:cNvCxnSpPr/>
          <p:nvPr/>
        </p:nvCxnSpPr>
        <p:spPr>
          <a:xfrm>
            <a:off x="7681912" y="749301"/>
            <a:ext cx="1420812" cy="80803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5" name="Google Shape;385;p25"/>
          <p:cNvCxnSpPr/>
          <p:nvPr/>
        </p:nvCxnSpPr>
        <p:spPr>
          <a:xfrm>
            <a:off x="7681912" y="1192213"/>
            <a:ext cx="1420812" cy="365125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6" name="Google Shape;386;p25"/>
          <p:cNvCxnSpPr/>
          <p:nvPr/>
        </p:nvCxnSpPr>
        <p:spPr>
          <a:xfrm rot="10800000" flipH="1">
            <a:off x="7700962" y="1597025"/>
            <a:ext cx="1350962" cy="893762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7" name="Google Shape;387;p25"/>
          <p:cNvCxnSpPr/>
          <p:nvPr/>
        </p:nvCxnSpPr>
        <p:spPr>
          <a:xfrm rot="10800000" flipH="1">
            <a:off x="7700962" y="1536700"/>
            <a:ext cx="1371600" cy="1416050"/>
          </a:xfrm>
          <a:prstGeom prst="straightConnector1">
            <a:avLst/>
          </a:prstGeom>
          <a:noFill/>
          <a:ln w="38100" cap="flat" cmpd="sng">
            <a:solidFill>
              <a:srgbClr val="92D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8" name="Google Shape;388;p25"/>
          <p:cNvCxnSpPr/>
          <p:nvPr/>
        </p:nvCxnSpPr>
        <p:spPr>
          <a:xfrm rot="10800000" flipH="1">
            <a:off x="7700962" y="1536701"/>
            <a:ext cx="1371600" cy="1863725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9" name="Google Shape;389;p25"/>
          <p:cNvCxnSpPr/>
          <p:nvPr/>
        </p:nvCxnSpPr>
        <p:spPr>
          <a:xfrm rot="10800000" flipH="1">
            <a:off x="7681912" y="1644650"/>
            <a:ext cx="1350962" cy="30099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0" name="Google Shape;390;p25"/>
          <p:cNvCxnSpPr/>
          <p:nvPr/>
        </p:nvCxnSpPr>
        <p:spPr>
          <a:xfrm rot="10800000" flipH="1">
            <a:off x="7681912" y="1536701"/>
            <a:ext cx="1390650" cy="3565525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1" name="Google Shape;391;p25"/>
          <p:cNvCxnSpPr/>
          <p:nvPr/>
        </p:nvCxnSpPr>
        <p:spPr>
          <a:xfrm rot="10800000" flipH="1">
            <a:off x="7681912" y="1536700"/>
            <a:ext cx="1390650" cy="4013200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92" name="Google Shape;392;p25"/>
          <p:cNvSpPr/>
          <p:nvPr/>
        </p:nvSpPr>
        <p:spPr>
          <a:xfrm>
            <a:off x="9072563" y="1177926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970087" y="160337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2522537" y="131762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3033712" y="146051"/>
            <a:ext cx="455612" cy="454025"/>
          </a:xfrm>
          <a:prstGeom prst="ellipse">
            <a:avLst/>
          </a:prstGeom>
          <a:noFill/>
          <a:ln w="762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1970087" y="619125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2522537" y="590550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3033712" y="603250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1982787" y="1074737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2535237" y="1046162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3046412" y="1058862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1905000" y="5258561"/>
            <a:ext cx="3276600" cy="523220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800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fewer parameters!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7" name="Google Shape;407;p26"/>
          <p:cNvGraphicFramePr/>
          <p:nvPr/>
        </p:nvGraphicFramePr>
        <p:xfrm>
          <a:off x="1924050" y="1849437"/>
          <a:ext cx="28733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8" name="Google Shape;408;p26"/>
          <p:cNvGraphicFramePr/>
          <p:nvPr/>
        </p:nvGraphicFramePr>
        <p:xfrm>
          <a:off x="1924050" y="152400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9" name="Google Shape;409;p26"/>
          <p:cNvSpPr txBox="1"/>
          <p:nvPr/>
        </p:nvSpPr>
        <p:spPr>
          <a:xfrm>
            <a:off x="3546475" y="606425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2435226" y="1835151"/>
            <a:ext cx="1417637" cy="138112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6969125" y="49212"/>
            <a:ext cx="3873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6969125" y="511175"/>
            <a:ext cx="3873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2: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6969125" y="960437"/>
            <a:ext cx="3873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3:</a:t>
            </a:r>
            <a:endParaRPr/>
          </a:p>
        </p:txBody>
      </p:sp>
      <p:sp>
        <p:nvSpPr>
          <p:cNvPr id="414" name="Google Shape;414;p26"/>
          <p:cNvSpPr txBox="1"/>
          <p:nvPr/>
        </p:nvSpPr>
        <p:spPr>
          <a:xfrm rot="5400000">
            <a:off x="6832601" y="1811338"/>
            <a:ext cx="820737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415" name="Google Shape;415;p26"/>
          <p:cNvSpPr txBox="1"/>
          <p:nvPr/>
        </p:nvSpPr>
        <p:spPr>
          <a:xfrm>
            <a:off x="6985000" y="2239962"/>
            <a:ext cx="3873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7: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6985000" y="2701925"/>
            <a:ext cx="3873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8:</a:t>
            </a:r>
            <a:endParaRPr/>
          </a:p>
        </p:txBody>
      </p:sp>
      <p:sp>
        <p:nvSpPr>
          <p:cNvPr id="417" name="Google Shape;417;p26"/>
          <p:cNvSpPr txBox="1"/>
          <p:nvPr/>
        </p:nvSpPr>
        <p:spPr>
          <a:xfrm>
            <a:off x="6985000" y="3151187"/>
            <a:ext cx="3873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9:</a:t>
            </a:r>
            <a:endParaRPr/>
          </a:p>
        </p:txBody>
      </p:sp>
      <p:sp>
        <p:nvSpPr>
          <p:cNvPr id="418" name="Google Shape;418;p26"/>
          <p:cNvSpPr txBox="1"/>
          <p:nvPr/>
        </p:nvSpPr>
        <p:spPr>
          <a:xfrm rot="5400000">
            <a:off x="6970712" y="3987801"/>
            <a:ext cx="539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419" name="Google Shape;419;p26"/>
          <p:cNvSpPr txBox="1"/>
          <p:nvPr/>
        </p:nvSpPr>
        <p:spPr>
          <a:xfrm>
            <a:off x="6826251" y="4438650"/>
            <a:ext cx="5222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13:</a:t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6819901" y="4902200"/>
            <a:ext cx="52387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14:</a:t>
            </a:r>
            <a:endParaRPr/>
          </a:p>
        </p:txBody>
      </p:sp>
      <p:sp>
        <p:nvSpPr>
          <p:cNvPr id="421" name="Google Shape;421;p26"/>
          <p:cNvSpPr txBox="1"/>
          <p:nvPr/>
        </p:nvSpPr>
        <p:spPr>
          <a:xfrm>
            <a:off x="6819900" y="5380037"/>
            <a:ext cx="5969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</a:t>
            </a:r>
            <a:endParaRPr/>
          </a:p>
        </p:txBody>
      </p:sp>
      <p:sp>
        <p:nvSpPr>
          <p:cNvPr id="422" name="Google Shape;422;p26"/>
          <p:cNvSpPr txBox="1"/>
          <p:nvPr/>
        </p:nvSpPr>
        <p:spPr>
          <a:xfrm rot="5400000">
            <a:off x="7019131" y="6217444"/>
            <a:ext cx="42386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6978651" y="1408112"/>
            <a:ext cx="38893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</a:t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6753225" y="3562350"/>
            <a:ext cx="63976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6815137" y="5789612"/>
            <a:ext cx="5969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7412038" y="14605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7" name="Google Shape;427;p26"/>
          <p:cNvSpPr txBox="1"/>
          <p:nvPr/>
        </p:nvSpPr>
        <p:spPr>
          <a:xfrm>
            <a:off x="7412038" y="614363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7412038" y="1057276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7412038" y="1517650"/>
            <a:ext cx="269875" cy="27146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7412038" y="235585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7412038" y="282575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2" name="Google Shape;432;p26"/>
          <p:cNvSpPr txBox="1"/>
          <p:nvPr/>
        </p:nvSpPr>
        <p:spPr>
          <a:xfrm>
            <a:off x="7412038" y="3267076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7412038" y="3729038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7412038" y="4519613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7412038" y="4987926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7412038" y="5430838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7412038" y="5892801"/>
            <a:ext cx="269875" cy="26987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95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438" name="Google Shape;438;p26"/>
          <p:cNvCxnSpPr/>
          <p:nvPr/>
        </p:nvCxnSpPr>
        <p:spPr>
          <a:xfrm>
            <a:off x="7681912" y="280987"/>
            <a:ext cx="1420812" cy="127635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9" name="Google Shape;439;p26"/>
          <p:cNvCxnSpPr/>
          <p:nvPr/>
        </p:nvCxnSpPr>
        <p:spPr>
          <a:xfrm>
            <a:off x="7681912" y="749301"/>
            <a:ext cx="1420812" cy="80803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0" name="Google Shape;440;p26"/>
          <p:cNvCxnSpPr/>
          <p:nvPr/>
        </p:nvCxnSpPr>
        <p:spPr>
          <a:xfrm>
            <a:off x="7681912" y="1192213"/>
            <a:ext cx="1420812" cy="365125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1" name="Google Shape;441;p26"/>
          <p:cNvCxnSpPr/>
          <p:nvPr/>
        </p:nvCxnSpPr>
        <p:spPr>
          <a:xfrm rot="10800000" flipH="1">
            <a:off x="7700962" y="1597025"/>
            <a:ext cx="1350962" cy="893762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2" name="Google Shape;442;p26"/>
          <p:cNvCxnSpPr/>
          <p:nvPr/>
        </p:nvCxnSpPr>
        <p:spPr>
          <a:xfrm rot="10800000" flipH="1">
            <a:off x="7700962" y="1536700"/>
            <a:ext cx="1371600" cy="1416050"/>
          </a:xfrm>
          <a:prstGeom prst="straightConnector1">
            <a:avLst/>
          </a:prstGeom>
          <a:noFill/>
          <a:ln w="38100" cap="flat" cmpd="sng">
            <a:solidFill>
              <a:srgbClr val="92D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3" name="Google Shape;443;p26"/>
          <p:cNvCxnSpPr/>
          <p:nvPr/>
        </p:nvCxnSpPr>
        <p:spPr>
          <a:xfrm rot="10800000" flipH="1">
            <a:off x="7700962" y="1536701"/>
            <a:ext cx="1371600" cy="1863725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4" name="Google Shape;444;p26"/>
          <p:cNvCxnSpPr/>
          <p:nvPr/>
        </p:nvCxnSpPr>
        <p:spPr>
          <a:xfrm rot="10800000" flipH="1">
            <a:off x="7681912" y="1644650"/>
            <a:ext cx="1350962" cy="30099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5" name="Google Shape;445;p26"/>
          <p:cNvCxnSpPr/>
          <p:nvPr/>
        </p:nvCxnSpPr>
        <p:spPr>
          <a:xfrm rot="10800000" flipH="1">
            <a:off x="7681912" y="1536701"/>
            <a:ext cx="1390650" cy="3565525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46" name="Google Shape;446;p26"/>
          <p:cNvCxnSpPr/>
          <p:nvPr/>
        </p:nvCxnSpPr>
        <p:spPr>
          <a:xfrm rot="10800000" flipH="1">
            <a:off x="7681912" y="1536700"/>
            <a:ext cx="1390650" cy="4013200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47" name="Google Shape;447;p26"/>
          <p:cNvSpPr/>
          <p:nvPr/>
        </p:nvSpPr>
        <p:spPr>
          <a:xfrm>
            <a:off x="9072563" y="1177926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9051926" y="2973388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1970087" y="160337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2522537" y="131762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3033712" y="146051"/>
            <a:ext cx="455612" cy="454025"/>
          </a:xfrm>
          <a:prstGeom prst="ellipse">
            <a:avLst/>
          </a:prstGeom>
          <a:noFill/>
          <a:ln w="762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1970087" y="619125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2522537" y="590550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3033712" y="603250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1982787" y="1074737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2535237" y="1046162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3046412" y="1058862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6"/>
          <p:cNvSpPr txBox="1"/>
          <p:nvPr/>
        </p:nvSpPr>
        <p:spPr>
          <a:xfrm>
            <a:off x="8039100" y="5761038"/>
            <a:ext cx="2628900" cy="460375"/>
          </a:xfrm>
          <a:prstGeom prst="rect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weights</a:t>
            </a:r>
            <a:endParaRPr/>
          </a:p>
        </p:txBody>
      </p:sp>
      <p:cxnSp>
        <p:nvCxnSpPr>
          <p:cNvPr id="459" name="Google Shape;459;p26"/>
          <p:cNvCxnSpPr/>
          <p:nvPr/>
        </p:nvCxnSpPr>
        <p:spPr>
          <a:xfrm>
            <a:off x="7681912" y="749300"/>
            <a:ext cx="1370012" cy="258445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0" name="Google Shape;460;p26"/>
          <p:cNvCxnSpPr/>
          <p:nvPr/>
        </p:nvCxnSpPr>
        <p:spPr>
          <a:xfrm>
            <a:off x="7681912" y="1192213"/>
            <a:ext cx="1370012" cy="214153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1" name="Google Shape;461;p26"/>
          <p:cNvCxnSpPr/>
          <p:nvPr/>
        </p:nvCxnSpPr>
        <p:spPr>
          <a:xfrm>
            <a:off x="7681912" y="1654176"/>
            <a:ext cx="1370012" cy="1679575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2" name="Google Shape;462;p26"/>
          <p:cNvCxnSpPr/>
          <p:nvPr/>
        </p:nvCxnSpPr>
        <p:spPr>
          <a:xfrm>
            <a:off x="7710488" y="2981326"/>
            <a:ext cx="1341437" cy="352425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3" name="Google Shape;463;p26"/>
          <p:cNvCxnSpPr/>
          <p:nvPr/>
        </p:nvCxnSpPr>
        <p:spPr>
          <a:xfrm rot="10800000" flipH="1">
            <a:off x="7697788" y="3333750"/>
            <a:ext cx="1354137" cy="125412"/>
          </a:xfrm>
          <a:prstGeom prst="straightConnector1">
            <a:avLst/>
          </a:prstGeom>
          <a:noFill/>
          <a:ln w="38100" cap="flat" cmpd="sng">
            <a:solidFill>
              <a:srgbClr val="92D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4" name="Google Shape;464;p26"/>
          <p:cNvCxnSpPr/>
          <p:nvPr/>
        </p:nvCxnSpPr>
        <p:spPr>
          <a:xfrm rot="10800000" flipH="1">
            <a:off x="7697788" y="3333750"/>
            <a:ext cx="1354137" cy="569912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5" name="Google Shape;465;p26"/>
          <p:cNvCxnSpPr/>
          <p:nvPr/>
        </p:nvCxnSpPr>
        <p:spPr>
          <a:xfrm rot="10800000" flipH="1">
            <a:off x="7681913" y="3360738"/>
            <a:ext cx="1336675" cy="1762125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6" name="Google Shape;466;p26"/>
          <p:cNvCxnSpPr/>
          <p:nvPr/>
        </p:nvCxnSpPr>
        <p:spPr>
          <a:xfrm rot="10800000" flipH="1">
            <a:off x="7681912" y="3327401"/>
            <a:ext cx="1358900" cy="2238375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67" name="Google Shape;467;p26"/>
          <p:cNvCxnSpPr/>
          <p:nvPr/>
        </p:nvCxnSpPr>
        <p:spPr>
          <a:xfrm rot="10800000" flipH="1">
            <a:off x="7681913" y="3389313"/>
            <a:ext cx="1343025" cy="2638425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68" name="Google Shape;468;p26"/>
          <p:cNvSpPr txBox="1"/>
          <p:nvPr/>
        </p:nvSpPr>
        <p:spPr>
          <a:xfrm>
            <a:off x="2232025" y="4640262"/>
            <a:ext cx="23479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pic>
        <p:nvPicPr>
          <p:cNvPr id="469" name="Google Shape;4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8625" y="1216025"/>
            <a:ext cx="2230438" cy="2243138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cxnSp>
        <p:nvCxnSpPr>
          <p:cNvPr id="470" name="Google Shape;470;p26"/>
          <p:cNvCxnSpPr/>
          <p:nvPr/>
        </p:nvCxnSpPr>
        <p:spPr>
          <a:xfrm rot="10800000" flipH="1">
            <a:off x="3852862" y="1557337"/>
            <a:ext cx="944562" cy="93345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71" name="Google Shape;471;p26"/>
          <p:cNvCxnSpPr/>
          <p:nvPr/>
        </p:nvCxnSpPr>
        <p:spPr>
          <a:xfrm>
            <a:off x="3546475" y="838200"/>
            <a:ext cx="1250950" cy="685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2" name="Google Shape;472;p26"/>
          <p:cNvSpPr txBox="1"/>
          <p:nvPr/>
        </p:nvSpPr>
        <p:spPr>
          <a:xfrm>
            <a:off x="2133600" y="5257801"/>
            <a:ext cx="3483048" cy="461665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Fewer parameters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 txBox="1"/>
          <p:nvPr/>
        </p:nvSpPr>
        <p:spPr>
          <a:xfrm>
            <a:off x="2153478" y="5937960"/>
            <a:ext cx="3485322" cy="461665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fewer parameters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whole CNN</a:t>
            </a:r>
            <a:endParaRPr/>
          </a:p>
        </p:txBody>
      </p:sp>
      <p:grpSp>
        <p:nvGrpSpPr>
          <p:cNvPr id="479" name="Google Shape;479;p27"/>
          <p:cNvGrpSpPr/>
          <p:nvPr/>
        </p:nvGrpSpPr>
        <p:grpSpPr>
          <a:xfrm>
            <a:off x="2273300" y="2274887"/>
            <a:ext cx="2906712" cy="3200400"/>
            <a:chOff x="-1626455" y="3999116"/>
            <a:chExt cx="2906568" cy="3201477"/>
          </a:xfrm>
        </p:grpSpPr>
        <p:pic>
          <p:nvPicPr>
            <p:cNvPr id="480" name="Google Shape;480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 flipH="1">
              <a:off x="-1736745" y="4748961"/>
              <a:ext cx="3201477" cy="1701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1" name="Google Shape;481;p27"/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Fully Connected Feedforward network</a:t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2" name="Google Shape;482;p27" descr="http://s.hswstatic.com/gif/whiskers-sam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8937" y="192088"/>
            <a:ext cx="177165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7"/>
          <p:cNvSpPr txBox="1"/>
          <p:nvPr/>
        </p:nvSpPr>
        <p:spPr>
          <a:xfrm>
            <a:off x="2801938" y="1706563"/>
            <a:ext cx="204628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 dog ……</a:t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 txBox="1"/>
          <p:nvPr/>
        </p:nvSpPr>
        <p:spPr>
          <a:xfrm>
            <a:off x="4848219" y="6055666"/>
            <a:ext cx="1556991" cy="400110"/>
          </a:xfrm>
          <a:prstGeom prst="rect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Flattened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7392987" y="1450975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7392987" y="2562225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7392987" y="3654426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392987" y="4689476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7"/>
          <p:cNvSpPr/>
          <p:nvPr/>
        </p:nvSpPr>
        <p:spPr>
          <a:xfrm rot="10800000">
            <a:off x="6405562" y="5753101"/>
            <a:ext cx="1377950" cy="752475"/>
          </a:xfrm>
          <a:custGeom>
            <a:avLst/>
            <a:gdLst/>
            <a:ahLst/>
            <a:cxnLst/>
            <a:rect l="l" t="t" r="r" b="b"/>
            <a:pathLst>
              <a:path w="1377950" h="752475" extrusionOk="0">
                <a:moveTo>
                  <a:pt x="0" y="752475"/>
                </a:moveTo>
                <a:lnTo>
                  <a:pt x="0" y="379680"/>
                </a:lnTo>
                <a:cubicBezTo>
                  <a:pt x="0" y="197863"/>
                  <a:pt x="147391" y="50472"/>
                  <a:pt x="329208" y="50472"/>
                </a:cubicBezTo>
                <a:lnTo>
                  <a:pt x="1189831" y="50472"/>
                </a:lnTo>
                <a:lnTo>
                  <a:pt x="1189831" y="0"/>
                </a:lnTo>
                <a:lnTo>
                  <a:pt x="1377950" y="188119"/>
                </a:lnTo>
                <a:lnTo>
                  <a:pt x="1189831" y="376238"/>
                </a:lnTo>
                <a:lnTo>
                  <a:pt x="1189831" y="325765"/>
                </a:lnTo>
                <a:lnTo>
                  <a:pt x="329208" y="325765"/>
                </a:lnTo>
                <a:cubicBezTo>
                  <a:pt x="299432" y="325765"/>
                  <a:pt x="275293" y="349904"/>
                  <a:pt x="275293" y="379680"/>
                </a:cubicBezTo>
                <a:lnTo>
                  <a:pt x="275293" y="752475"/>
                </a:lnTo>
                <a:lnTo>
                  <a:pt x="0" y="752475"/>
                </a:lnTo>
                <a:close/>
              </a:path>
            </a:pathLst>
          </a:cu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 rot="-5400000">
            <a:off x="3678238" y="5340350"/>
            <a:ext cx="968375" cy="1238250"/>
          </a:xfrm>
          <a:custGeom>
            <a:avLst/>
            <a:gdLst/>
            <a:ahLst/>
            <a:cxnLst/>
            <a:rect l="l" t="t" r="r" b="b"/>
            <a:pathLst>
              <a:path w="968375" h="1238250" extrusionOk="0">
                <a:moveTo>
                  <a:pt x="0" y="1238250"/>
                </a:moveTo>
                <a:lnTo>
                  <a:pt x="0" y="529890"/>
                </a:lnTo>
                <a:cubicBezTo>
                  <a:pt x="0" y="295907"/>
                  <a:pt x="189681" y="106226"/>
                  <a:pt x="423664" y="106226"/>
                </a:cubicBezTo>
                <a:lnTo>
                  <a:pt x="726281" y="106226"/>
                </a:lnTo>
                <a:lnTo>
                  <a:pt x="726281" y="0"/>
                </a:lnTo>
                <a:lnTo>
                  <a:pt x="968375" y="242094"/>
                </a:lnTo>
                <a:lnTo>
                  <a:pt x="726281" y="484188"/>
                </a:lnTo>
                <a:lnTo>
                  <a:pt x="726281" y="377962"/>
                </a:lnTo>
                <a:lnTo>
                  <a:pt x="423664" y="377962"/>
                </a:lnTo>
                <a:cubicBezTo>
                  <a:pt x="339756" y="377962"/>
                  <a:pt x="271736" y="445982"/>
                  <a:pt x="271736" y="529890"/>
                </a:cubicBezTo>
                <a:lnTo>
                  <a:pt x="271736" y="1238250"/>
                </a:lnTo>
                <a:lnTo>
                  <a:pt x="0" y="1238250"/>
                </a:lnTo>
                <a:close/>
              </a:path>
            </a:pathLst>
          </a:cu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 txBox="1"/>
          <p:nvPr/>
        </p:nvSpPr>
        <p:spPr>
          <a:xfrm>
            <a:off x="8948738" y="3414712"/>
            <a:ext cx="1690687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repeat many times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 flipH="1">
            <a:off x="8550275" y="1806576"/>
            <a:ext cx="334962" cy="4048125"/>
          </a:xfrm>
          <a:prstGeom prst="leftBrace">
            <a:avLst>
              <a:gd name="adj1" fmla="val 1303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6692901" y="2976562"/>
            <a:ext cx="1857375" cy="6969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6692901" y="5080000"/>
            <a:ext cx="1857375" cy="6969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/>
          </a:p>
        </p:txBody>
      </p:sp>
      <p:sp>
        <p:nvSpPr>
          <p:cNvPr id="504" name="Google Shape;504;p28"/>
          <p:cNvSpPr/>
          <p:nvPr/>
        </p:nvSpPr>
        <p:spPr>
          <a:xfrm>
            <a:off x="2419351" y="328453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3260726" y="3284538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4103688" y="328453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4945063" y="328453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08" name="Google Shape;508;p28"/>
          <p:cNvSpPr/>
          <p:nvPr/>
        </p:nvSpPr>
        <p:spPr>
          <a:xfrm>
            <a:off x="2419351" y="408463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509" name="Google Shape;509;p28"/>
          <p:cNvSpPr/>
          <p:nvPr/>
        </p:nvSpPr>
        <p:spPr>
          <a:xfrm>
            <a:off x="3260726" y="4084638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0" name="Google Shape;510;p28"/>
          <p:cNvSpPr/>
          <p:nvPr/>
        </p:nvSpPr>
        <p:spPr>
          <a:xfrm>
            <a:off x="4103688" y="408463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4945063" y="4084638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512" name="Google Shape;512;p28"/>
          <p:cNvSpPr/>
          <p:nvPr/>
        </p:nvSpPr>
        <p:spPr>
          <a:xfrm>
            <a:off x="2419351" y="4943476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513" name="Google Shape;513;p28"/>
          <p:cNvSpPr/>
          <p:nvPr/>
        </p:nvSpPr>
        <p:spPr>
          <a:xfrm>
            <a:off x="3260726" y="4943476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4103688" y="4943476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4945063" y="4943476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2419351" y="5743576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3260726" y="5743576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518" name="Google Shape;518;p28"/>
          <p:cNvSpPr/>
          <p:nvPr/>
        </p:nvSpPr>
        <p:spPr>
          <a:xfrm>
            <a:off x="4103688" y="5743576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519" name="Google Shape;519;p28"/>
          <p:cNvSpPr/>
          <p:nvPr/>
        </p:nvSpPr>
        <p:spPr>
          <a:xfrm>
            <a:off x="4945063" y="5743576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graphicFrame>
        <p:nvGraphicFramePr>
          <p:cNvPr id="520" name="Google Shape;520;p28"/>
          <p:cNvGraphicFramePr/>
          <p:nvPr/>
        </p:nvGraphicFramePr>
        <p:xfrm>
          <a:off x="7235825" y="1617662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1" name="Google Shape;521;p28"/>
          <p:cNvSpPr txBox="1"/>
          <p:nvPr/>
        </p:nvSpPr>
        <p:spPr>
          <a:xfrm>
            <a:off x="8724900" y="2085975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/>
          </a:p>
        </p:txBody>
      </p:sp>
      <p:sp>
        <p:nvSpPr>
          <p:cNvPr id="522" name="Google Shape;522;p28"/>
          <p:cNvSpPr/>
          <p:nvPr/>
        </p:nvSpPr>
        <p:spPr>
          <a:xfrm>
            <a:off x="6588126" y="3354388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7429501" y="3354388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24" name="Google Shape;524;p28"/>
          <p:cNvSpPr/>
          <p:nvPr/>
        </p:nvSpPr>
        <p:spPr>
          <a:xfrm>
            <a:off x="8272463" y="3354388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25" name="Google Shape;525;p28"/>
          <p:cNvSpPr/>
          <p:nvPr/>
        </p:nvSpPr>
        <p:spPr>
          <a:xfrm>
            <a:off x="9113838" y="3354388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6588126" y="4154488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7429501" y="4154488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28" name="Google Shape;528;p28"/>
          <p:cNvSpPr/>
          <p:nvPr/>
        </p:nvSpPr>
        <p:spPr>
          <a:xfrm>
            <a:off x="8272463" y="4154488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9113838" y="4154488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0" name="Google Shape;530;p28"/>
          <p:cNvSpPr/>
          <p:nvPr/>
        </p:nvSpPr>
        <p:spPr>
          <a:xfrm>
            <a:off x="6588126" y="5011738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31" name="Google Shape;531;p28"/>
          <p:cNvSpPr/>
          <p:nvPr/>
        </p:nvSpPr>
        <p:spPr>
          <a:xfrm>
            <a:off x="7429501" y="5011738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8272463" y="5011738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9113838" y="5011738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6588126" y="5811838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35" name="Google Shape;535;p28"/>
          <p:cNvSpPr/>
          <p:nvPr/>
        </p:nvSpPr>
        <p:spPr>
          <a:xfrm>
            <a:off x="7429501" y="5811838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8272463" y="5811838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  <p:sp>
        <p:nvSpPr>
          <p:cNvPr id="537" name="Google Shape;537;p28"/>
          <p:cNvSpPr/>
          <p:nvPr/>
        </p:nvSpPr>
        <p:spPr>
          <a:xfrm>
            <a:off x="9113838" y="5811838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5000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aphicFrame>
        <p:nvGraphicFramePr>
          <p:cNvPr id="538" name="Google Shape;538;p28"/>
          <p:cNvGraphicFramePr/>
          <p:nvPr/>
        </p:nvGraphicFramePr>
        <p:xfrm>
          <a:off x="3230562" y="1617662"/>
          <a:ext cx="1622400" cy="1371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9" name="Google Shape;539;p28"/>
          <p:cNvSpPr txBox="1"/>
          <p:nvPr/>
        </p:nvSpPr>
        <p:spPr>
          <a:xfrm>
            <a:off x="4852987" y="2071687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/>
          </a:p>
        </p:txBody>
      </p:sp>
      <p:sp>
        <p:nvSpPr>
          <p:cNvPr id="540" name="Google Shape;540;p28"/>
          <p:cNvSpPr txBox="1"/>
          <p:nvPr/>
        </p:nvSpPr>
        <p:spPr>
          <a:xfrm>
            <a:off x="2419350" y="3284538"/>
            <a:ext cx="1562100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"/>
          <p:cNvSpPr txBox="1"/>
          <p:nvPr/>
        </p:nvSpPr>
        <p:spPr>
          <a:xfrm>
            <a:off x="4103687" y="3284538"/>
            <a:ext cx="1560512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"/>
          <p:cNvSpPr txBox="1"/>
          <p:nvPr/>
        </p:nvSpPr>
        <p:spPr>
          <a:xfrm>
            <a:off x="2419350" y="4940301"/>
            <a:ext cx="1562100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"/>
          <p:cNvSpPr txBox="1"/>
          <p:nvPr/>
        </p:nvSpPr>
        <p:spPr>
          <a:xfrm>
            <a:off x="4103687" y="4940301"/>
            <a:ext cx="1560512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"/>
          <p:cNvSpPr txBox="1"/>
          <p:nvPr/>
        </p:nvSpPr>
        <p:spPr>
          <a:xfrm>
            <a:off x="6588125" y="3325813"/>
            <a:ext cx="1562100" cy="1519237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 txBox="1"/>
          <p:nvPr/>
        </p:nvSpPr>
        <p:spPr>
          <a:xfrm>
            <a:off x="8272462" y="3325813"/>
            <a:ext cx="1560512" cy="1519237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6588125" y="4981576"/>
            <a:ext cx="1562100" cy="1519237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8"/>
          <p:cNvSpPr txBox="1"/>
          <p:nvPr/>
        </p:nvSpPr>
        <p:spPr>
          <a:xfrm>
            <a:off x="8272462" y="4981576"/>
            <a:ext cx="1560512" cy="1519237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9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Pooling</a:t>
            </a:r>
            <a:endParaRPr/>
          </a:p>
        </p:txBody>
      </p:sp>
      <p:sp>
        <p:nvSpPr>
          <p:cNvPr id="553" name="Google Shape;553;p29"/>
          <p:cNvSpPr txBox="1">
            <a:spLocks noGrp="1"/>
          </p:cNvSpPr>
          <p:nvPr>
            <p:ph type="body" idx="1"/>
          </p:nvPr>
        </p:nvSpPr>
        <p:spPr>
          <a:xfrm>
            <a:off x="2152650" y="1825626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Subsampling pixels will not change the object</a:t>
            </a:r>
            <a:endParaRPr/>
          </a:p>
        </p:txBody>
      </p:sp>
      <p:pic>
        <p:nvPicPr>
          <p:cNvPr id="554" name="Google Shape;554;p29" descr="http://insider.si.edu/wordpress/wp-content/uploads/2016/04/Mountain_Bluebir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9676" y="2924175"/>
            <a:ext cx="3335337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9" descr="http://insider.si.edu/wordpress/wp-content/uploads/2016/04/Mountain_Bluebir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6237" y="3433763"/>
            <a:ext cx="1757362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9"/>
          <p:cNvSpPr/>
          <p:nvPr/>
        </p:nvSpPr>
        <p:spPr>
          <a:xfrm>
            <a:off x="5921375" y="3627438"/>
            <a:ext cx="1860550" cy="803275"/>
          </a:xfrm>
          <a:prstGeom prst="rightArrow">
            <a:avLst>
              <a:gd name="adj1" fmla="val 16937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9"/>
          <p:cNvSpPr txBox="1"/>
          <p:nvPr/>
        </p:nvSpPr>
        <p:spPr>
          <a:xfrm>
            <a:off x="5815012" y="4424362"/>
            <a:ext cx="20764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Subsampling</a:t>
            </a:r>
            <a:endParaRPr/>
          </a:p>
        </p:txBody>
      </p:sp>
      <p:sp>
        <p:nvSpPr>
          <p:cNvPr id="558" name="Google Shape;558;p29"/>
          <p:cNvSpPr txBox="1"/>
          <p:nvPr/>
        </p:nvSpPr>
        <p:spPr>
          <a:xfrm>
            <a:off x="3400426" y="2408238"/>
            <a:ext cx="1495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/>
          </a:p>
        </p:txBody>
      </p:sp>
      <p:sp>
        <p:nvSpPr>
          <p:cNvPr id="559" name="Google Shape;559;p29"/>
          <p:cNvSpPr txBox="1"/>
          <p:nvPr/>
        </p:nvSpPr>
        <p:spPr>
          <a:xfrm>
            <a:off x="8128001" y="2900363"/>
            <a:ext cx="1493837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/>
          </a:p>
        </p:txBody>
      </p:sp>
      <p:sp>
        <p:nvSpPr>
          <p:cNvPr id="560" name="Google Shape;560;p29"/>
          <p:cNvSpPr txBox="1"/>
          <p:nvPr/>
        </p:nvSpPr>
        <p:spPr>
          <a:xfrm>
            <a:off x="2303463" y="5511800"/>
            <a:ext cx="729773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subsample the pixels to make image smaller</a:t>
            </a:r>
            <a:endParaRPr/>
          </a:p>
        </p:txBody>
      </p:sp>
      <p:sp>
        <p:nvSpPr>
          <p:cNvPr id="561" name="Google Shape;561;p29"/>
          <p:cNvSpPr txBox="1"/>
          <p:nvPr/>
        </p:nvSpPr>
        <p:spPr>
          <a:xfrm>
            <a:off x="2303463" y="6258720"/>
            <a:ext cx="72675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parameters to characterize the image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CNN compresses a fully connected network in two ways:</a:t>
            </a:r>
            <a:endParaRPr/>
          </a:p>
        </p:txBody>
      </p:sp>
      <p:sp>
        <p:nvSpPr>
          <p:cNvPr id="568" name="Google Shape;568;p30"/>
          <p:cNvSpPr txBox="1">
            <a:spLocks noGrp="1"/>
          </p:cNvSpPr>
          <p:nvPr>
            <p:ph type="body" idx="1"/>
          </p:nvPr>
        </p:nvSpPr>
        <p:spPr>
          <a:xfrm>
            <a:off x="1981200" y="1828801"/>
            <a:ext cx="84582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Reducing number of connections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weights on the edges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accent1"/>
              </a:buClr>
              <a:buSzPts val="3200"/>
              <a:buFont typeface="Noto Sans Symbols"/>
              <a:buChar char="●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pooling further reduces the complexity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1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/>
          </a:p>
        </p:txBody>
      </p:sp>
      <p:graphicFrame>
        <p:nvGraphicFramePr>
          <p:cNvPr id="574" name="Google Shape;574;p31"/>
          <p:cNvGraphicFramePr/>
          <p:nvPr/>
        </p:nvGraphicFramePr>
        <p:xfrm>
          <a:off x="1862137" y="2503487"/>
          <a:ext cx="2874950" cy="2743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75" marR="9147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5" name="Google Shape;575;p31"/>
          <p:cNvSpPr txBox="1"/>
          <p:nvPr/>
        </p:nvSpPr>
        <p:spPr>
          <a:xfrm>
            <a:off x="2125662" y="5492750"/>
            <a:ext cx="23479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/>
          </a:p>
        </p:txBody>
      </p:sp>
      <p:sp>
        <p:nvSpPr>
          <p:cNvPr id="576" name="Google Shape;576;p31"/>
          <p:cNvSpPr/>
          <p:nvPr/>
        </p:nvSpPr>
        <p:spPr>
          <a:xfrm>
            <a:off x="8123238" y="308610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9094788" y="308610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578" name="Google Shape;578;p31"/>
          <p:cNvSpPr/>
          <p:nvPr/>
        </p:nvSpPr>
        <p:spPr>
          <a:xfrm>
            <a:off x="9094788" y="4195763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79" name="Google Shape;579;p31"/>
          <p:cNvSpPr/>
          <p:nvPr/>
        </p:nvSpPr>
        <p:spPr>
          <a:xfrm>
            <a:off x="8123238" y="4195763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80" name="Google Shape;580;p31"/>
          <p:cNvSpPr/>
          <p:nvPr/>
        </p:nvSpPr>
        <p:spPr>
          <a:xfrm>
            <a:off x="8312151" y="3303588"/>
            <a:ext cx="720725" cy="720725"/>
          </a:xfrm>
          <a:prstGeom prst="ellipse">
            <a:avLst/>
          </a:prstGeom>
          <a:gradFill>
            <a:gsLst>
              <a:gs pos="0">
                <a:srgbClr val="F6F6FF"/>
              </a:gs>
              <a:gs pos="65000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581" name="Google Shape;581;p31"/>
          <p:cNvSpPr/>
          <p:nvPr/>
        </p:nvSpPr>
        <p:spPr>
          <a:xfrm>
            <a:off x="9318626" y="3281363"/>
            <a:ext cx="720725" cy="720725"/>
          </a:xfrm>
          <a:prstGeom prst="ellipse">
            <a:avLst/>
          </a:prstGeom>
          <a:gradFill>
            <a:gsLst>
              <a:gs pos="0">
                <a:srgbClr val="F6F6FF"/>
              </a:gs>
              <a:gs pos="65000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82" name="Google Shape;582;p31"/>
          <p:cNvSpPr/>
          <p:nvPr/>
        </p:nvSpPr>
        <p:spPr>
          <a:xfrm>
            <a:off x="9318626" y="4352926"/>
            <a:ext cx="720725" cy="719137"/>
          </a:xfrm>
          <a:prstGeom prst="ellipse">
            <a:avLst/>
          </a:prstGeom>
          <a:gradFill>
            <a:gsLst>
              <a:gs pos="0">
                <a:srgbClr val="F6F6FF"/>
              </a:gs>
              <a:gs pos="65000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83" name="Google Shape;583;p31"/>
          <p:cNvSpPr/>
          <p:nvPr/>
        </p:nvSpPr>
        <p:spPr>
          <a:xfrm>
            <a:off x="8326438" y="4354513"/>
            <a:ext cx="720725" cy="720725"/>
          </a:xfrm>
          <a:prstGeom prst="ellipse">
            <a:avLst/>
          </a:prstGeom>
          <a:gradFill>
            <a:gsLst>
              <a:gs pos="0">
                <a:srgbClr val="F6F6FF"/>
              </a:gs>
              <a:gs pos="65000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584" name="Google Shape;584;p31"/>
          <p:cNvSpPr txBox="1"/>
          <p:nvPr/>
        </p:nvSpPr>
        <p:spPr>
          <a:xfrm>
            <a:off x="7950201" y="5186362"/>
            <a:ext cx="23463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x 2 image</a:t>
            </a:r>
            <a:endParaRPr/>
          </a:p>
        </p:txBody>
      </p:sp>
      <p:sp>
        <p:nvSpPr>
          <p:cNvPr id="585" name="Google Shape;585;p31"/>
          <p:cNvSpPr txBox="1"/>
          <p:nvPr/>
        </p:nvSpPr>
        <p:spPr>
          <a:xfrm>
            <a:off x="7961312" y="5699126"/>
            <a:ext cx="226695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FF"/>
              </a:buClr>
              <a:buSzPts val="2800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Each filter </a:t>
            </a:r>
            <a:endParaRPr/>
          </a:p>
          <a:p>
            <a:pPr algn="ctr">
              <a:buClr>
                <a:srgbClr val="0000FF"/>
              </a:buClr>
              <a:buSzPts val="2800"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is a channel</a:t>
            </a:r>
            <a:endParaRPr/>
          </a:p>
        </p:txBody>
      </p:sp>
      <p:sp>
        <p:nvSpPr>
          <p:cNvPr id="586" name="Google Shape;586;p31"/>
          <p:cNvSpPr/>
          <p:nvPr/>
        </p:nvSpPr>
        <p:spPr>
          <a:xfrm>
            <a:off x="4676776" y="2728913"/>
            <a:ext cx="858837" cy="847725"/>
          </a:xfrm>
          <a:prstGeom prst="rightArrow">
            <a:avLst>
              <a:gd name="adj1" fmla="val 1094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 txBox="1"/>
          <p:nvPr/>
        </p:nvSpPr>
        <p:spPr>
          <a:xfrm>
            <a:off x="7961312" y="1957388"/>
            <a:ext cx="2279650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image </a:t>
            </a:r>
            <a:endParaRPr/>
          </a:p>
          <a:p>
            <a:pPr algn="ctr"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smaller</a:t>
            </a:r>
            <a:endParaRPr/>
          </a:p>
        </p:txBody>
      </p:sp>
      <p:sp>
        <p:nvSpPr>
          <p:cNvPr id="588" name="Google Shape;588;p31"/>
          <p:cNvSpPr txBox="1"/>
          <p:nvPr/>
        </p:nvSpPr>
        <p:spPr>
          <a:xfrm>
            <a:off x="5538788" y="2609851"/>
            <a:ext cx="1374775" cy="1068387"/>
          </a:xfrm>
          <a:prstGeom prst="rect">
            <a:avLst/>
          </a:prstGeom>
          <a:solidFill>
            <a:srgbClr val="E2E2FF"/>
          </a:solidFill>
          <a:ln w="25400" cap="flat" cmpd="sng">
            <a:solidFill>
              <a:srgbClr val="A6A6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/>
          </a:p>
        </p:txBody>
      </p:sp>
      <p:sp>
        <p:nvSpPr>
          <p:cNvPr id="589" name="Google Shape;589;p31"/>
          <p:cNvSpPr txBox="1"/>
          <p:nvPr/>
        </p:nvSpPr>
        <p:spPr>
          <a:xfrm>
            <a:off x="5535612" y="4187825"/>
            <a:ext cx="1377950" cy="1066800"/>
          </a:xfrm>
          <a:prstGeom prst="rect">
            <a:avLst/>
          </a:prstGeom>
          <a:solidFill>
            <a:srgbClr val="C4C4D6"/>
          </a:solidFill>
          <a:ln w="25400" cap="flat" cmpd="sng">
            <a:solidFill>
              <a:srgbClr val="8F8F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/>
          </a:p>
          <a:p>
            <a:pPr algn="ctr">
              <a:buClr>
                <a:srgbClr val="000000"/>
              </a:buClr>
              <a:buSzPts val="2800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/>
          </a:p>
        </p:txBody>
      </p:sp>
      <p:sp>
        <p:nvSpPr>
          <p:cNvPr id="590" name="Google Shape;590;p31"/>
          <p:cNvSpPr/>
          <p:nvPr/>
        </p:nvSpPr>
        <p:spPr>
          <a:xfrm>
            <a:off x="6902451" y="4289426"/>
            <a:ext cx="858837" cy="846137"/>
          </a:xfrm>
          <a:prstGeom prst="rightArrow">
            <a:avLst>
              <a:gd name="adj1" fmla="val 1096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1"/>
          <p:cNvSpPr/>
          <p:nvPr/>
        </p:nvSpPr>
        <p:spPr>
          <a:xfrm rot="5400000">
            <a:off x="5978526" y="3517901"/>
            <a:ext cx="492125" cy="847725"/>
          </a:xfrm>
          <a:prstGeom prst="right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whole CNN</a:t>
            </a:r>
            <a:endParaRPr/>
          </a:p>
        </p:txBody>
      </p:sp>
      <p:pic>
        <p:nvPicPr>
          <p:cNvPr id="597" name="Google Shape;597;p32" descr="http://s.hswstatic.com/gif/whiskers-sam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8937" y="192088"/>
            <a:ext cx="177165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2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2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2"/>
          <p:cNvSpPr/>
          <p:nvPr/>
        </p:nvSpPr>
        <p:spPr>
          <a:xfrm>
            <a:off x="7392987" y="1450975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2"/>
          <p:cNvSpPr/>
          <p:nvPr/>
        </p:nvSpPr>
        <p:spPr>
          <a:xfrm>
            <a:off x="7392987" y="2562225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7392987" y="3654426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7392987" y="4689476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2"/>
          <p:cNvSpPr txBox="1"/>
          <p:nvPr/>
        </p:nvSpPr>
        <p:spPr>
          <a:xfrm>
            <a:off x="8948738" y="3414712"/>
            <a:ext cx="1690687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repeat many times</a:t>
            </a:r>
            <a:endParaRPr/>
          </a:p>
        </p:txBody>
      </p:sp>
      <p:sp>
        <p:nvSpPr>
          <p:cNvPr id="607" name="Google Shape;607;p32"/>
          <p:cNvSpPr/>
          <p:nvPr/>
        </p:nvSpPr>
        <p:spPr>
          <a:xfrm flipH="1">
            <a:off x="8550275" y="1806576"/>
            <a:ext cx="334962" cy="4048125"/>
          </a:xfrm>
          <a:prstGeom prst="leftBrace">
            <a:avLst>
              <a:gd name="adj1" fmla="val 1303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2"/>
          <p:cNvSpPr txBox="1"/>
          <p:nvPr/>
        </p:nvSpPr>
        <p:spPr>
          <a:xfrm>
            <a:off x="6713538" y="1847851"/>
            <a:ext cx="1857375" cy="190023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2"/>
          <p:cNvSpPr txBox="1"/>
          <p:nvPr/>
        </p:nvSpPr>
        <p:spPr>
          <a:xfrm>
            <a:off x="2905457" y="3568647"/>
            <a:ext cx="2097183" cy="461665"/>
          </a:xfrm>
          <a:prstGeom prst="rect">
            <a:avLst/>
          </a:prstGeom>
          <a:gradFill>
            <a:gsLst>
              <a:gs pos="0">
                <a:schemeClr val="accent4"/>
              </a:gs>
              <a:gs pos="80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lt1"/>
              </a:buClr>
              <a:buSzPts val="2400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new image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2"/>
          <p:cNvSpPr txBox="1"/>
          <p:nvPr/>
        </p:nvSpPr>
        <p:spPr>
          <a:xfrm>
            <a:off x="2098676" y="5210176"/>
            <a:ext cx="428942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channels is the number of filters</a:t>
            </a:r>
            <a:endParaRPr/>
          </a:p>
        </p:txBody>
      </p:sp>
      <p:sp>
        <p:nvSpPr>
          <p:cNvPr id="611" name="Google Shape;611;p32"/>
          <p:cNvSpPr txBox="1"/>
          <p:nvPr/>
        </p:nvSpPr>
        <p:spPr>
          <a:xfrm>
            <a:off x="2098676" y="4251326"/>
            <a:ext cx="4249737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than the original image</a:t>
            </a:r>
            <a:endParaRPr/>
          </a:p>
        </p:txBody>
      </p:sp>
      <p:cxnSp>
        <p:nvCxnSpPr>
          <p:cNvPr id="612" name="Google Shape;612;p32"/>
          <p:cNvCxnSpPr/>
          <p:nvPr/>
        </p:nvCxnSpPr>
        <p:spPr>
          <a:xfrm rot="10800000">
            <a:off x="5059363" y="3875087"/>
            <a:ext cx="2270125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13" name="Google Shape;613;p32"/>
          <p:cNvSpPr txBox="1"/>
          <p:nvPr/>
        </p:nvSpPr>
        <p:spPr>
          <a:xfrm>
            <a:off x="6713538" y="4002088"/>
            <a:ext cx="1857375" cy="190023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4" name="Google Shape;614;p32"/>
          <p:cNvGrpSpPr/>
          <p:nvPr/>
        </p:nvGrpSpPr>
        <p:grpSpPr>
          <a:xfrm>
            <a:off x="3086100" y="1611312"/>
            <a:ext cx="1947862" cy="1771650"/>
            <a:chOff x="1561968" y="1612084"/>
            <a:chExt cx="1947915" cy="1771562"/>
          </a:xfrm>
        </p:grpSpPr>
        <p:sp>
          <p:nvSpPr>
            <p:cNvPr id="615" name="Google Shape;615;p32"/>
            <p:cNvSpPr/>
            <p:nvPr/>
          </p:nvSpPr>
          <p:spPr>
            <a:xfrm>
              <a:off x="1593719" y="1612084"/>
              <a:ext cx="719157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5000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2565295" y="1612084"/>
              <a:ext cx="719157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5000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2533544" y="2504215"/>
              <a:ext cx="720744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5000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1561968" y="2504215"/>
              <a:ext cx="720744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5000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1782637" y="1829560"/>
              <a:ext cx="720744" cy="719102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5000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2789139" y="1805749"/>
              <a:ext cx="720744" cy="720689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5000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2758975" y="2661369"/>
              <a:ext cx="719157" cy="719102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5000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1766761" y="2662957"/>
              <a:ext cx="719156" cy="720689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5000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20000" dir="540000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3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whole CNN</a:t>
            </a:r>
            <a:endParaRPr/>
          </a:p>
        </p:txBody>
      </p:sp>
      <p:grpSp>
        <p:nvGrpSpPr>
          <p:cNvPr id="628" name="Google Shape;628;p33"/>
          <p:cNvGrpSpPr/>
          <p:nvPr/>
        </p:nvGrpSpPr>
        <p:grpSpPr>
          <a:xfrm>
            <a:off x="2273300" y="2274887"/>
            <a:ext cx="2906712" cy="3200400"/>
            <a:chOff x="-1626455" y="3999116"/>
            <a:chExt cx="2906568" cy="3201477"/>
          </a:xfrm>
        </p:grpSpPr>
        <p:pic>
          <p:nvPicPr>
            <p:cNvPr id="629" name="Google Shape;629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 flipH="1">
              <a:off x="-1736745" y="4748961"/>
              <a:ext cx="3201477" cy="1701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33"/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Fully Connected Feedforward network</a:t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1" name="Google Shape;631;p33" descr="http://s.hswstatic.com/gif/whiskers-sam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8937" y="192088"/>
            <a:ext cx="177165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3"/>
          <p:cNvSpPr txBox="1"/>
          <p:nvPr/>
        </p:nvSpPr>
        <p:spPr>
          <a:xfrm>
            <a:off x="2801938" y="1706563"/>
            <a:ext cx="204628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 dog ……</a:t>
            </a:r>
            <a:endParaRPr/>
          </a:p>
        </p:txBody>
      </p:sp>
      <p:sp>
        <p:nvSpPr>
          <p:cNvPr id="633" name="Google Shape;633;p33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3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3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3"/>
          <p:cNvSpPr txBox="1"/>
          <p:nvPr/>
        </p:nvSpPr>
        <p:spPr>
          <a:xfrm>
            <a:off x="4848219" y="6055667"/>
            <a:ext cx="1556991" cy="461665"/>
          </a:xfrm>
          <a:prstGeom prst="rect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Flattened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7392987" y="1450975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3"/>
          <p:cNvSpPr/>
          <p:nvPr/>
        </p:nvSpPr>
        <p:spPr>
          <a:xfrm>
            <a:off x="7392987" y="2562225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7392987" y="3654426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3"/>
          <p:cNvSpPr/>
          <p:nvPr/>
        </p:nvSpPr>
        <p:spPr>
          <a:xfrm>
            <a:off x="7392987" y="4689476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3"/>
          <p:cNvSpPr/>
          <p:nvPr/>
        </p:nvSpPr>
        <p:spPr>
          <a:xfrm rot="10800000">
            <a:off x="6405562" y="5753101"/>
            <a:ext cx="1377950" cy="752475"/>
          </a:xfrm>
          <a:custGeom>
            <a:avLst/>
            <a:gdLst/>
            <a:ahLst/>
            <a:cxnLst/>
            <a:rect l="l" t="t" r="r" b="b"/>
            <a:pathLst>
              <a:path w="1377950" h="752475" extrusionOk="0">
                <a:moveTo>
                  <a:pt x="0" y="752475"/>
                </a:moveTo>
                <a:lnTo>
                  <a:pt x="0" y="379680"/>
                </a:lnTo>
                <a:cubicBezTo>
                  <a:pt x="0" y="197863"/>
                  <a:pt x="147391" y="50472"/>
                  <a:pt x="329208" y="50472"/>
                </a:cubicBezTo>
                <a:lnTo>
                  <a:pt x="1189831" y="50472"/>
                </a:lnTo>
                <a:lnTo>
                  <a:pt x="1189831" y="0"/>
                </a:lnTo>
                <a:lnTo>
                  <a:pt x="1377950" y="188119"/>
                </a:lnTo>
                <a:lnTo>
                  <a:pt x="1189831" y="376238"/>
                </a:lnTo>
                <a:lnTo>
                  <a:pt x="1189831" y="325765"/>
                </a:lnTo>
                <a:lnTo>
                  <a:pt x="329208" y="325765"/>
                </a:lnTo>
                <a:cubicBezTo>
                  <a:pt x="299432" y="325765"/>
                  <a:pt x="275293" y="349904"/>
                  <a:pt x="275293" y="379680"/>
                </a:cubicBezTo>
                <a:lnTo>
                  <a:pt x="275293" y="752475"/>
                </a:lnTo>
                <a:lnTo>
                  <a:pt x="0" y="752475"/>
                </a:lnTo>
                <a:close/>
              </a:path>
            </a:pathLst>
          </a:cu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3"/>
          <p:cNvSpPr/>
          <p:nvPr/>
        </p:nvSpPr>
        <p:spPr>
          <a:xfrm rot="-5400000">
            <a:off x="3678238" y="5340350"/>
            <a:ext cx="968375" cy="1238250"/>
          </a:xfrm>
          <a:custGeom>
            <a:avLst/>
            <a:gdLst/>
            <a:ahLst/>
            <a:cxnLst/>
            <a:rect l="l" t="t" r="r" b="b"/>
            <a:pathLst>
              <a:path w="968375" h="1238250" extrusionOk="0">
                <a:moveTo>
                  <a:pt x="0" y="1238250"/>
                </a:moveTo>
                <a:lnTo>
                  <a:pt x="0" y="529890"/>
                </a:lnTo>
                <a:cubicBezTo>
                  <a:pt x="0" y="295907"/>
                  <a:pt x="189681" y="106226"/>
                  <a:pt x="423664" y="106226"/>
                </a:cubicBezTo>
                <a:lnTo>
                  <a:pt x="726281" y="106226"/>
                </a:lnTo>
                <a:lnTo>
                  <a:pt x="726281" y="0"/>
                </a:lnTo>
                <a:lnTo>
                  <a:pt x="968375" y="242094"/>
                </a:lnTo>
                <a:lnTo>
                  <a:pt x="726281" y="484188"/>
                </a:lnTo>
                <a:lnTo>
                  <a:pt x="726281" y="377962"/>
                </a:lnTo>
                <a:lnTo>
                  <a:pt x="423664" y="377962"/>
                </a:lnTo>
                <a:cubicBezTo>
                  <a:pt x="339756" y="377962"/>
                  <a:pt x="271736" y="445982"/>
                  <a:pt x="271736" y="529890"/>
                </a:cubicBezTo>
                <a:lnTo>
                  <a:pt x="271736" y="1238250"/>
                </a:lnTo>
                <a:lnTo>
                  <a:pt x="0" y="1238250"/>
                </a:lnTo>
                <a:close/>
              </a:path>
            </a:pathLst>
          </a:cu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3"/>
          <p:cNvSpPr txBox="1"/>
          <p:nvPr/>
        </p:nvSpPr>
        <p:spPr>
          <a:xfrm>
            <a:off x="2152650" y="2562226"/>
            <a:ext cx="4368800" cy="407193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3"/>
          <p:cNvSpPr txBox="1"/>
          <p:nvPr/>
        </p:nvSpPr>
        <p:spPr>
          <a:xfrm>
            <a:off x="8229601" y="3657601"/>
            <a:ext cx="2097183" cy="461665"/>
          </a:xfrm>
          <a:prstGeom prst="rect">
            <a:avLst/>
          </a:prstGeom>
          <a:gradFill>
            <a:gsLst>
              <a:gs pos="0">
                <a:schemeClr val="accent4"/>
              </a:gs>
              <a:gs pos="80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lt1"/>
              </a:buClr>
              <a:buSzPts val="2400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new image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3"/>
          <p:cNvSpPr txBox="1"/>
          <p:nvPr/>
        </p:nvSpPr>
        <p:spPr>
          <a:xfrm>
            <a:off x="8001001" y="5943601"/>
            <a:ext cx="2097183" cy="461665"/>
          </a:xfrm>
          <a:prstGeom prst="rect">
            <a:avLst/>
          </a:prstGeom>
          <a:gradFill>
            <a:gsLst>
              <a:gs pos="0">
                <a:schemeClr val="accent4"/>
              </a:gs>
              <a:gs pos="80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lt1"/>
              </a:buClr>
              <a:buSzPts val="2400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new image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4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800"/>
            </a:pPr>
            <a:r>
              <a:rPr lang="en-US" sz="3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Flattening</a:t>
            </a:r>
            <a:endParaRPr/>
          </a:p>
        </p:txBody>
      </p:sp>
      <p:grpSp>
        <p:nvGrpSpPr>
          <p:cNvPr id="652" name="Google Shape;652;p34"/>
          <p:cNvGrpSpPr/>
          <p:nvPr/>
        </p:nvGrpSpPr>
        <p:grpSpPr>
          <a:xfrm>
            <a:off x="1790700" y="2473325"/>
            <a:ext cx="1943100" cy="2049462"/>
            <a:chOff x="758373" y="2759289"/>
            <a:chExt cx="1943214" cy="2049364"/>
          </a:xfrm>
        </p:grpSpPr>
        <p:sp>
          <p:nvSpPr>
            <p:cNvPr id="653" name="Google Shape;653;p34"/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  <a:gradFill>
              <a:gsLst>
                <a:gs pos="0">
                  <a:srgbClr val="9C9CAF"/>
                </a:gs>
                <a:gs pos="80000">
                  <a:srgbClr val="CECDE7"/>
                </a:gs>
                <a:gs pos="100000">
                  <a:srgbClr val="CECEE8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ts val="2400"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4"/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  <a:gradFill>
              <a:gsLst>
                <a:gs pos="0">
                  <a:srgbClr val="9C9CAF"/>
                </a:gs>
                <a:gs pos="80000">
                  <a:srgbClr val="CECDE7"/>
                </a:gs>
                <a:gs pos="100000">
                  <a:srgbClr val="CECEE8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ts val="2400"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4"/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  <a:gradFill>
              <a:gsLst>
                <a:gs pos="0">
                  <a:srgbClr val="9C9CAF"/>
                </a:gs>
                <a:gs pos="80000">
                  <a:srgbClr val="CECDE7"/>
                </a:gs>
                <a:gs pos="100000">
                  <a:srgbClr val="CECEE8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ts val="2400"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  <a:gradFill>
              <a:gsLst>
                <a:gs pos="0">
                  <a:srgbClr val="9C9CAF"/>
                </a:gs>
                <a:gs pos="80000">
                  <a:srgbClr val="CECDE7"/>
                </a:gs>
                <a:gs pos="100000">
                  <a:srgbClr val="CECEE8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ts val="2400"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2400"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34"/>
          <p:cNvSpPr txBox="1"/>
          <p:nvPr/>
        </p:nvSpPr>
        <p:spPr>
          <a:xfrm>
            <a:off x="3886200" y="3886200"/>
            <a:ext cx="1524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Flattened</a:t>
            </a:r>
            <a:endParaRPr/>
          </a:p>
        </p:txBody>
      </p:sp>
      <p:sp>
        <p:nvSpPr>
          <p:cNvPr id="662" name="Google Shape;662;p34"/>
          <p:cNvSpPr/>
          <p:nvPr/>
        </p:nvSpPr>
        <p:spPr>
          <a:xfrm>
            <a:off x="5736000" y="194885"/>
            <a:ext cx="720000" cy="720000"/>
          </a:xfrm>
          <a:prstGeom prst="ellipse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5736000" y="1084384"/>
            <a:ext cx="720000" cy="720000"/>
          </a:xfrm>
          <a:prstGeom prst="ellipse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5736000" y="1923284"/>
            <a:ext cx="720000" cy="720000"/>
          </a:xfrm>
          <a:prstGeom prst="ellipse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4"/>
          <p:cNvSpPr/>
          <p:nvPr/>
        </p:nvSpPr>
        <p:spPr>
          <a:xfrm>
            <a:off x="5736000" y="2778220"/>
            <a:ext cx="720000" cy="720000"/>
          </a:xfrm>
          <a:prstGeom prst="ellipse">
            <a:avLst/>
          </a:prstGeom>
          <a:gradFill>
            <a:gsLst>
              <a:gs pos="0">
                <a:srgbClr val="9C9CAF"/>
              </a:gs>
              <a:gs pos="80000">
                <a:srgbClr val="CECDE7"/>
              </a:gs>
              <a:gs pos="100000">
                <a:srgbClr val="CECEE8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4"/>
          <p:cNvSpPr/>
          <p:nvPr/>
        </p:nvSpPr>
        <p:spPr>
          <a:xfrm>
            <a:off x="5736000" y="3615067"/>
            <a:ext cx="720000" cy="720000"/>
          </a:xfrm>
          <a:prstGeom prst="ellipse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4"/>
          <p:cNvSpPr/>
          <p:nvPr/>
        </p:nvSpPr>
        <p:spPr>
          <a:xfrm>
            <a:off x="5736000" y="4402756"/>
            <a:ext cx="720000" cy="720000"/>
          </a:xfrm>
          <a:prstGeom prst="ellipse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4"/>
          <p:cNvSpPr/>
          <p:nvPr/>
        </p:nvSpPr>
        <p:spPr>
          <a:xfrm>
            <a:off x="5736000" y="5204579"/>
            <a:ext cx="720000" cy="720000"/>
          </a:xfrm>
          <a:prstGeom prst="ellipse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4"/>
          <p:cNvSpPr/>
          <p:nvPr/>
        </p:nvSpPr>
        <p:spPr>
          <a:xfrm>
            <a:off x="5736000" y="6029276"/>
            <a:ext cx="720000" cy="720000"/>
          </a:xfrm>
          <a:prstGeom prst="ellipse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4"/>
          <p:cNvSpPr/>
          <p:nvPr/>
        </p:nvSpPr>
        <p:spPr>
          <a:xfrm>
            <a:off x="6511925" y="3190875"/>
            <a:ext cx="557212" cy="728662"/>
          </a:xfrm>
          <a:prstGeom prst="right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4"/>
          <p:cNvSpPr/>
          <p:nvPr/>
        </p:nvSpPr>
        <p:spPr>
          <a:xfrm>
            <a:off x="8997950" y="3419475"/>
            <a:ext cx="557212" cy="728662"/>
          </a:xfrm>
          <a:prstGeom prst="right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2" name="Google Shape;672;p34"/>
          <p:cNvGrpSpPr/>
          <p:nvPr/>
        </p:nvGrpSpPr>
        <p:grpSpPr>
          <a:xfrm>
            <a:off x="7126287" y="2724150"/>
            <a:ext cx="3200400" cy="2506662"/>
            <a:chOff x="-2630921" y="4440114"/>
            <a:chExt cx="3201477" cy="2506507"/>
          </a:xfrm>
        </p:grpSpPr>
        <p:pic>
          <p:nvPicPr>
            <p:cNvPr id="673" name="Google Shape;673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0800000" flipH="1">
              <a:off x="-2630921" y="4440114"/>
              <a:ext cx="3201477" cy="1701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34"/>
            <p:cNvSpPr txBox="1"/>
            <p:nvPr/>
          </p:nvSpPr>
          <p:spPr>
            <a:xfrm>
              <a:off x="-2630921" y="6238735"/>
              <a:ext cx="2906568" cy="707886"/>
            </a:xfrm>
            <a:prstGeom prst="rect">
              <a:avLst/>
            </a:prstGeom>
            <a:gradFill>
              <a:gsLst>
                <a:gs pos="0">
                  <a:srgbClr val="A2A2BE"/>
                </a:gs>
                <a:gs pos="80000">
                  <a:srgbClr val="D5D5FA"/>
                </a:gs>
                <a:gs pos="100000">
                  <a:srgbClr val="D6D6F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2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Fully Connected Feedforward network</a:t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34"/>
          <p:cNvSpPr/>
          <p:nvPr/>
        </p:nvSpPr>
        <p:spPr>
          <a:xfrm>
            <a:off x="3849688" y="3201987"/>
            <a:ext cx="1831975" cy="728662"/>
          </a:xfrm>
          <a:prstGeom prst="rightArrow">
            <a:avLst>
              <a:gd name="adj1" fmla="val 17304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5"/>
          <p:cNvSpPr txBox="1"/>
          <p:nvPr/>
        </p:nvSpPr>
        <p:spPr>
          <a:xfrm>
            <a:off x="4615046" y="141751"/>
            <a:ext cx="5540375" cy="707886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modified the </a:t>
            </a:r>
            <a:r>
              <a:rPr lang="en-US" sz="20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structure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0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format (vector -&gt; 3-D tensor)</a:t>
            </a:r>
            <a:endParaRPr sz="2000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5"/>
          <p:cNvSpPr txBox="1"/>
          <p:nvPr/>
        </p:nvSpPr>
        <p:spPr>
          <a:xfrm>
            <a:off x="2057400" y="265113"/>
            <a:ext cx="21082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b="1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CNN in Keras</a:t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7832508" y="1874056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7832508" y="2974068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7832508" y="4042281"/>
            <a:ext cx="1736724" cy="556488"/>
          </a:xfrm>
          <a:prstGeom prst="rect">
            <a:avLst/>
          </a:prstGeom>
          <a:gradFill>
            <a:gsLst>
              <a:gs pos="0">
                <a:srgbClr val="A2A2BE"/>
              </a:gs>
              <a:gs pos="80000">
                <a:srgbClr val="D5D5FA"/>
              </a:gs>
              <a:gs pos="100000">
                <a:srgbClr val="D6D6FB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7832508" y="5075533"/>
            <a:ext cx="1736724" cy="556488"/>
          </a:xfrm>
          <a:prstGeom prst="rect">
            <a:avLst/>
          </a:prstGeom>
          <a:gradFill>
            <a:gsLst>
              <a:gs pos="0">
                <a:srgbClr val="8E8E9E"/>
              </a:gs>
              <a:gs pos="80000">
                <a:srgbClr val="BABAD1"/>
              </a:gs>
              <a:gs pos="100000">
                <a:srgbClr val="BABAD3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Pooling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8451850" y="1397001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8451850" y="2506662"/>
            <a:ext cx="546100" cy="44291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8451850" y="3598863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8451850" y="4633913"/>
            <a:ext cx="546100" cy="441325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5"/>
          <p:cNvSpPr txBox="1"/>
          <p:nvPr/>
        </p:nvSpPr>
        <p:spPr>
          <a:xfrm>
            <a:off x="7715251" y="973137"/>
            <a:ext cx="20462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</p:txBody>
      </p:sp>
      <p:pic>
        <p:nvPicPr>
          <p:cNvPr id="691" name="Google Shape;69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0263" y="1450975"/>
            <a:ext cx="486727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8775" y="4697412"/>
            <a:ext cx="4171950" cy="26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3" name="Google Shape;693;p35"/>
          <p:cNvCxnSpPr/>
          <p:nvPr/>
        </p:nvCxnSpPr>
        <p:spPr>
          <a:xfrm>
            <a:off x="3725863" y="1671637"/>
            <a:ext cx="1709737" cy="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94" name="Google Shape;694;p35"/>
          <p:cNvCxnSpPr/>
          <p:nvPr/>
        </p:nvCxnSpPr>
        <p:spPr>
          <a:xfrm>
            <a:off x="5653087" y="1671637"/>
            <a:ext cx="334962" cy="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95" name="Google Shape;695;p35"/>
          <p:cNvCxnSpPr/>
          <p:nvPr/>
        </p:nvCxnSpPr>
        <p:spPr>
          <a:xfrm>
            <a:off x="6083301" y="1671637"/>
            <a:ext cx="168275" cy="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96" name="Google Shape;696;p35"/>
          <p:cNvCxnSpPr/>
          <p:nvPr/>
        </p:nvCxnSpPr>
        <p:spPr>
          <a:xfrm>
            <a:off x="6340476" y="1673225"/>
            <a:ext cx="166687" cy="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697" name="Google Shape;697;p35"/>
          <p:cNvGraphicFramePr/>
          <p:nvPr/>
        </p:nvGraphicFramePr>
        <p:xfrm>
          <a:off x="2247900" y="2203451"/>
          <a:ext cx="1382700" cy="11128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8" name="Google Shape;698;p35"/>
          <p:cNvGraphicFramePr/>
          <p:nvPr/>
        </p:nvGraphicFramePr>
        <p:xfrm>
          <a:off x="3016251" y="2368551"/>
          <a:ext cx="1398575" cy="1111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/>
                    </a:p>
                  </a:txBody>
                  <a:tcPr marL="91425" marR="91425" marT="45675" marB="45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9" name="Google Shape;699;p35"/>
          <p:cNvSpPr txBox="1"/>
          <p:nvPr/>
        </p:nvSpPr>
        <p:spPr>
          <a:xfrm>
            <a:off x="5145087" y="2452687"/>
            <a:ext cx="180181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3x3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filters.</a:t>
            </a:r>
            <a:endParaRPr/>
          </a:p>
        </p:txBody>
      </p:sp>
      <p:sp>
        <p:nvSpPr>
          <p:cNvPr id="700" name="Google Shape;700;p35"/>
          <p:cNvSpPr txBox="1"/>
          <p:nvPr/>
        </p:nvSpPr>
        <p:spPr>
          <a:xfrm>
            <a:off x="4451350" y="2522538"/>
            <a:ext cx="69215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/>
          </a:p>
        </p:txBody>
      </p:sp>
      <p:sp>
        <p:nvSpPr>
          <p:cNvPr id="701" name="Google Shape;701;p35"/>
          <p:cNvSpPr txBox="1"/>
          <p:nvPr/>
        </p:nvSpPr>
        <p:spPr>
          <a:xfrm>
            <a:off x="2754313" y="3489325"/>
            <a:ext cx="39512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Input_shape = ( 28 , 28 , 1)</a:t>
            </a:r>
            <a:endParaRPr/>
          </a:p>
        </p:txBody>
      </p:sp>
      <p:sp>
        <p:nvSpPr>
          <p:cNvPr id="702" name="Google Shape;702;p35"/>
          <p:cNvSpPr txBox="1"/>
          <p:nvPr/>
        </p:nvSpPr>
        <p:spPr>
          <a:xfrm>
            <a:off x="4419600" y="4114801"/>
            <a:ext cx="26463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 black/white, 3: RGB</a:t>
            </a:r>
            <a:endParaRPr/>
          </a:p>
        </p:txBody>
      </p:sp>
      <p:sp>
        <p:nvSpPr>
          <p:cNvPr id="703" name="Google Shape;703;p35"/>
          <p:cNvSpPr txBox="1"/>
          <p:nvPr/>
        </p:nvSpPr>
        <p:spPr>
          <a:xfrm>
            <a:off x="2514600" y="4038601"/>
            <a:ext cx="20240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 x 28 pixels</a:t>
            </a:r>
            <a:endParaRPr/>
          </a:p>
        </p:txBody>
      </p:sp>
      <p:sp>
        <p:nvSpPr>
          <p:cNvPr id="704" name="Google Shape;704;p35"/>
          <p:cNvSpPr/>
          <p:nvPr/>
        </p:nvSpPr>
        <p:spPr>
          <a:xfrm>
            <a:off x="3176588" y="5118101"/>
            <a:ext cx="630237" cy="6302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05" name="Google Shape;705;p35"/>
          <p:cNvSpPr/>
          <p:nvPr/>
        </p:nvSpPr>
        <p:spPr>
          <a:xfrm>
            <a:off x="3878263" y="5118101"/>
            <a:ext cx="630237" cy="6302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706" name="Google Shape;706;p35"/>
          <p:cNvSpPr/>
          <p:nvPr/>
        </p:nvSpPr>
        <p:spPr>
          <a:xfrm>
            <a:off x="3170238" y="5838826"/>
            <a:ext cx="630237" cy="6302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707" name="Google Shape;707;p35"/>
          <p:cNvSpPr/>
          <p:nvPr/>
        </p:nvSpPr>
        <p:spPr>
          <a:xfrm>
            <a:off x="3870326" y="5838826"/>
            <a:ext cx="630237" cy="6302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08" name="Google Shape;708;p35"/>
          <p:cNvSpPr txBox="1"/>
          <p:nvPr/>
        </p:nvSpPr>
        <p:spPr>
          <a:xfrm>
            <a:off x="3176587" y="5092700"/>
            <a:ext cx="1331912" cy="13763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5464176" y="5130801"/>
            <a:ext cx="630237" cy="630237"/>
          </a:xfrm>
          <a:prstGeom prst="ellipse">
            <a:avLst/>
          </a:prstGeom>
          <a:gradFill>
            <a:gsLst>
              <a:gs pos="0">
                <a:srgbClr val="F7F6FF"/>
              </a:gs>
              <a:gs pos="65000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10" name="Google Shape;710;p35"/>
          <p:cNvSpPr txBox="1"/>
          <p:nvPr/>
        </p:nvSpPr>
        <p:spPr>
          <a:xfrm>
            <a:off x="5464175" y="5105400"/>
            <a:ext cx="1331912" cy="13763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4606926" y="5583238"/>
            <a:ext cx="782637" cy="477837"/>
          </a:xfrm>
          <a:prstGeom prst="rightArrow">
            <a:avLst>
              <a:gd name="adj1" fmla="val 15006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 txBox="1"/>
          <p:nvPr/>
        </p:nvSpPr>
        <p:spPr>
          <a:xfrm>
            <a:off x="1898650" y="1258887"/>
            <a:ext cx="5365750" cy="3213100"/>
          </a:xfrm>
          <a:prstGeom prst="rect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 txBox="1"/>
          <p:nvPr/>
        </p:nvSpPr>
        <p:spPr>
          <a:xfrm>
            <a:off x="2746375" y="4598988"/>
            <a:ext cx="4525962" cy="2054225"/>
          </a:xfrm>
          <a:prstGeom prst="rect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35"/>
          <p:cNvCxnSpPr/>
          <p:nvPr/>
        </p:nvCxnSpPr>
        <p:spPr>
          <a:xfrm flipH="1">
            <a:off x="7272338" y="2152651"/>
            <a:ext cx="560387" cy="820737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15" name="Google Shape;715;p35"/>
          <p:cNvCxnSpPr/>
          <p:nvPr/>
        </p:nvCxnSpPr>
        <p:spPr>
          <a:xfrm flipH="1">
            <a:off x="7272338" y="3252787"/>
            <a:ext cx="560387" cy="2373312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16" name="Google Shape;716;p35"/>
          <p:cNvCxnSpPr/>
          <p:nvPr/>
        </p:nvCxnSpPr>
        <p:spPr>
          <a:xfrm>
            <a:off x="5638801" y="3886200"/>
            <a:ext cx="274637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17" name="Google Shape;717;p35"/>
          <p:cNvCxnSpPr/>
          <p:nvPr/>
        </p:nvCxnSpPr>
        <p:spPr>
          <a:xfrm>
            <a:off x="4648200" y="3886200"/>
            <a:ext cx="84455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18" name="Google Shape;718;p35"/>
          <p:cNvCxnSpPr/>
          <p:nvPr/>
        </p:nvCxnSpPr>
        <p:spPr>
          <a:xfrm flipH="1">
            <a:off x="5486400" y="3886200"/>
            <a:ext cx="292100" cy="2476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19" name="Google Shape;719;p35"/>
          <p:cNvCxnSpPr/>
          <p:nvPr/>
        </p:nvCxnSpPr>
        <p:spPr>
          <a:xfrm flipH="1">
            <a:off x="3810001" y="3886201"/>
            <a:ext cx="1241425" cy="21113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720" name="Google Shape;720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2400" y="1708150"/>
            <a:ext cx="1274762" cy="27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1" name="Google Shape;721;p35"/>
          <p:cNvCxnSpPr/>
          <p:nvPr/>
        </p:nvCxnSpPr>
        <p:spPr>
          <a:xfrm>
            <a:off x="3570287" y="1908175"/>
            <a:ext cx="2781300" cy="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4004-5581-5B9E-536D-26E5C7D5D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6B16-16EF-5EF3-F86D-D97CE06F0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4"/>
            <a:ext cx="10515600" cy="5120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a CNN:</a:t>
            </a:r>
          </a:p>
          <a:p>
            <a:r>
              <a:rPr lang="en-US" sz="3200" dirty="0"/>
              <a:t>Early layers → detect very generic features like edges, corners, textures, and colors. These are useful for almost all images (cats, dogs, lungs, X-rays, etc.).</a:t>
            </a:r>
          </a:p>
          <a:p>
            <a:r>
              <a:rPr lang="en-US" sz="3200" dirty="0"/>
              <a:t>Middle layers → detect patterns like shapes, motifs, parts of objects.</a:t>
            </a:r>
          </a:p>
          <a:p>
            <a:r>
              <a:rPr lang="en-US" sz="3200" dirty="0"/>
              <a:t>Deeper layers (last few blocks) → detect task-specific features (dog faces, wheels, medical tissue patterns, etc.).</a:t>
            </a:r>
          </a:p>
        </p:txBody>
      </p:sp>
    </p:spTree>
    <p:extLst>
      <p:ext uri="{BB962C8B-B14F-4D97-AF65-F5344CB8AC3E}">
        <p14:creationId xmlns:p14="http://schemas.microsoft.com/office/powerpoint/2010/main" val="2010880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48C6-C9A8-C305-E48D-0D06E20DF0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Pretrained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3B93A-DA35-0F57-C830-DE4008E9A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1719837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A01B-733B-8F80-F038-626F2A8C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7618"/>
          </a:xfrm>
        </p:spPr>
        <p:txBody>
          <a:bodyPr/>
          <a:lstStyle/>
          <a:p>
            <a:r>
              <a:rPr lang="en-US" dirty="0"/>
              <a:t>Pretrained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93EF-BBE1-83FA-8FA6-178032291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4"/>
            <a:ext cx="10515600" cy="49142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Deep learning on smaller datasets. </a:t>
            </a:r>
          </a:p>
          <a:p>
            <a:r>
              <a:rPr lang="en-US" b="1" dirty="0"/>
              <a:t>Pretrained: </a:t>
            </a:r>
            <a:r>
              <a:rPr lang="en-US" dirty="0"/>
              <a:t>A pretrained network is a saved network that was previously trained on a large dataset, typically on a large-scale image classification task.</a:t>
            </a:r>
          </a:p>
          <a:p>
            <a:r>
              <a:rPr lang="en-US" b="1" dirty="0"/>
              <a:t>Generic Model: </a:t>
            </a:r>
            <a:r>
              <a:rPr lang="en-US" dirty="0"/>
              <a:t>If trained on large and diverse dataset, then this model will become generic for related smaller datasets. </a:t>
            </a:r>
          </a:p>
          <a:p>
            <a:r>
              <a:rPr lang="en-US" b="1" dirty="0"/>
              <a:t>Learned Features: </a:t>
            </a:r>
            <a:r>
              <a:rPr lang="en-US" dirty="0"/>
              <a:t>For instance, a model originally trained over </a:t>
            </a:r>
            <a:r>
              <a:rPr lang="en-US" dirty="0" err="1"/>
              <a:t>imagenet</a:t>
            </a:r>
            <a:r>
              <a:rPr lang="en-US" dirty="0"/>
              <a:t> (a larger dataset containing animals and every day objects) than this model can help in furniture identification tasks. (because furniture images also contain animals and every day objects)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06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1586-C0CF-8BE6-E9B1-DFC05887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IMAGE-NET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61C60-3C7B-0A94-3B4A-BA0F3228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891"/>
            <a:ext cx="10515600" cy="3940072"/>
          </a:xfrm>
        </p:spPr>
        <p:txBody>
          <a:bodyPr/>
          <a:lstStyle/>
          <a:p>
            <a:r>
              <a:rPr lang="en-US" dirty="0"/>
              <a:t>It contains over 14 million images across 21,000+ categories.</a:t>
            </a:r>
          </a:p>
          <a:p>
            <a:r>
              <a:rPr lang="en-US" dirty="0"/>
              <a:t>There is no fixed size of each image. Sizes varies from images to images. </a:t>
            </a:r>
          </a:p>
          <a:p>
            <a:r>
              <a:rPr lang="en-US" dirty="0"/>
              <a:t>These images are collected from internet. </a:t>
            </a:r>
          </a:p>
          <a:p>
            <a:r>
              <a:rPr lang="en-US" dirty="0"/>
              <a:t>Images are also annotated with bounding boxes. </a:t>
            </a:r>
          </a:p>
          <a:p>
            <a:r>
              <a:rPr lang="en-US" dirty="0"/>
              <a:t>For training deep learning models (e.g., </a:t>
            </a:r>
            <a:r>
              <a:rPr lang="en-US" dirty="0" err="1"/>
              <a:t>AlexNet</a:t>
            </a:r>
            <a:r>
              <a:rPr lang="en-US" dirty="0"/>
              <a:t>, </a:t>
            </a:r>
            <a:r>
              <a:rPr lang="en-US" dirty="0" err="1"/>
              <a:t>ResNet</a:t>
            </a:r>
            <a:r>
              <a:rPr lang="en-US" dirty="0"/>
              <a:t>), images are typically resized to 224×224 pixels.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2383B-5825-9AA2-8F05-1F4A68CB3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491" y="-111409"/>
            <a:ext cx="3182145" cy="24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02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249-22F7-6682-5073-2778106F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05641-5A0D-E1E2-3355-82FEDD08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Pretrained models can be used in two ways</a:t>
            </a:r>
          </a:p>
          <a:p>
            <a:pPr marL="514350" indent="-514350">
              <a:buAutoNum type="alphaLcParenR"/>
            </a:pPr>
            <a:r>
              <a:rPr lang="en-US" dirty="0"/>
              <a:t>Feature Extraction</a:t>
            </a:r>
          </a:p>
          <a:p>
            <a:pPr marL="514350" indent="-514350">
              <a:buAutoNum type="alphaLcParenR"/>
            </a:pPr>
            <a:r>
              <a:rPr lang="en-US" dirty="0"/>
              <a:t>Fine Tunning</a:t>
            </a:r>
          </a:p>
        </p:txBody>
      </p:sp>
    </p:spTree>
    <p:extLst>
      <p:ext uri="{BB962C8B-B14F-4D97-AF65-F5344CB8AC3E}">
        <p14:creationId xmlns:p14="http://schemas.microsoft.com/office/powerpoint/2010/main" val="19487937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2438-A9E1-1BDE-3CC3-AC5C4E4D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246"/>
          </a:xfrm>
        </p:spPr>
        <p:txBody>
          <a:bodyPr/>
          <a:lstStyle/>
          <a:p>
            <a:r>
              <a:rPr lang="en-US" dirty="0"/>
              <a:t>Features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36E8-190A-6ED7-F657-C7CCB38BA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r>
              <a:rPr lang="en-US" dirty="0"/>
              <a:t>Feature (edges, textures, patterns, shapes) extraction consists of using the representations learned by a previous network to extract interesting features from new samples to train a from-scratch classifier. </a:t>
            </a:r>
          </a:p>
          <a:p>
            <a:r>
              <a:rPr lang="en-US" dirty="0"/>
              <a:t> Feature extraction consists of taking the convolutional base of a previously trained model and running the data through it and training a new classifier.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2220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474BC-D0DD-6238-8C1E-5EAF2293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2F14-A7B3-6540-852D-AFAB46F1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246"/>
          </a:xfrm>
        </p:spPr>
        <p:txBody>
          <a:bodyPr/>
          <a:lstStyle/>
          <a:p>
            <a:r>
              <a:rPr lang="en-US" dirty="0"/>
              <a:t>Features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9D41-9D86-DFFD-61D1-EA036EF8B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91BD3-7239-9F77-DE99-CC58BA91B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977" y="1027235"/>
            <a:ext cx="6578938" cy="40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237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5F22-6D55-7103-0AC6-E8AB0AC1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0677-BA52-4D2F-A930-40F2DA5F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246"/>
          </a:xfrm>
        </p:spPr>
        <p:txBody>
          <a:bodyPr/>
          <a:lstStyle/>
          <a:p>
            <a:r>
              <a:rPr lang="en-US" dirty="0"/>
              <a:t>Features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74EC7-DEDC-F469-64E1-3A95AE19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C6CDE-F31E-430A-1B8F-60609F704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977" y="1027235"/>
            <a:ext cx="6578938" cy="4019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13E49B-77D6-FA2A-DD62-044DB60DB34A}"/>
              </a:ext>
            </a:extLst>
          </p:cNvPr>
          <p:cNvSpPr txBox="1"/>
          <p:nvPr/>
        </p:nvSpPr>
        <p:spPr>
          <a:xfrm>
            <a:off x="2307772" y="5592188"/>
            <a:ext cx="6770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this is different from Scratch CNN?</a:t>
            </a:r>
          </a:p>
        </p:txBody>
      </p:sp>
    </p:spTree>
    <p:extLst>
      <p:ext uri="{BB962C8B-B14F-4D97-AF65-F5344CB8AC3E}">
        <p14:creationId xmlns:p14="http://schemas.microsoft.com/office/powerpoint/2010/main" val="3628264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3793-CDF8-CA93-9666-5F4CE6320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Pretrained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7435-6442-43BD-6A86-978728332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Xception</a:t>
            </a:r>
            <a:endParaRPr lang="en-US" dirty="0"/>
          </a:p>
          <a:p>
            <a:r>
              <a:rPr lang="en-US" dirty="0"/>
              <a:t> Inception V3</a:t>
            </a:r>
          </a:p>
          <a:p>
            <a:r>
              <a:rPr lang="en-US" dirty="0"/>
              <a:t> ResNet50</a:t>
            </a:r>
          </a:p>
          <a:p>
            <a:r>
              <a:rPr lang="en-US" dirty="0"/>
              <a:t> VGG16</a:t>
            </a:r>
          </a:p>
          <a:p>
            <a:r>
              <a:rPr lang="en-US" dirty="0"/>
              <a:t> VGG19</a:t>
            </a:r>
          </a:p>
          <a:p>
            <a:r>
              <a:rPr lang="en-US" dirty="0"/>
              <a:t> </a:t>
            </a:r>
            <a:r>
              <a:rPr lang="en-US" dirty="0" err="1"/>
              <a:t>MobileNet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40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F384-8C56-6B83-F54D-405AB7F13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0"/>
            <a:ext cx="10515600" cy="949869"/>
          </a:xfrm>
        </p:spPr>
        <p:txBody>
          <a:bodyPr/>
          <a:lstStyle/>
          <a:p>
            <a:r>
              <a:rPr lang="en-US" dirty="0"/>
              <a:t>VGG-16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8CF97-5769-CC7E-D4B7-12C73E6EE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611"/>
            <a:ext cx="10515600" cy="6174378"/>
          </a:xfrm>
        </p:spPr>
        <p:txBody>
          <a:bodyPr/>
          <a:lstStyle/>
          <a:p>
            <a:r>
              <a:rPr lang="en-US" dirty="0"/>
              <a:t>It was proposed by the Visual Geometry Group (VGG) at the University of Oxford.</a:t>
            </a:r>
          </a:p>
          <a:p>
            <a:r>
              <a:rPr lang="en-US" dirty="0"/>
              <a:t>It is characterized by its depth, consisting of 16 layers, including 13 convolutional layers and 3 fully connected layers.</a:t>
            </a:r>
          </a:p>
          <a:p>
            <a:r>
              <a:rPr lang="en-US" b="1" dirty="0"/>
              <a:t>Input</a:t>
            </a:r>
            <a:r>
              <a:rPr lang="en-US" dirty="0"/>
              <a:t>: 224×224 RGB image (3 channels)</a:t>
            </a:r>
          </a:p>
          <a:p>
            <a:r>
              <a:rPr lang="en-US" b="1" dirty="0"/>
              <a:t>Layers</a:t>
            </a:r>
            <a:r>
              <a:rPr lang="en-US" dirty="0"/>
              <a:t>: 13 convolutional layers + 3 fully connected layers = 16 weight layers</a:t>
            </a:r>
          </a:p>
          <a:p>
            <a:r>
              <a:rPr lang="en-US" b="1" dirty="0"/>
              <a:t>Kernel size: </a:t>
            </a:r>
            <a:r>
              <a:rPr lang="en-US" dirty="0"/>
              <a:t>All convolution layers use 3×3 filters, stride 1, padding SAME</a:t>
            </a:r>
          </a:p>
          <a:p>
            <a:r>
              <a:rPr lang="en-US" dirty="0"/>
              <a:t>Final classifier: Fully connected layers + </a:t>
            </a:r>
            <a:r>
              <a:rPr lang="en-US" dirty="0" err="1"/>
              <a:t>softmax</a:t>
            </a:r>
            <a:r>
              <a:rPr lang="en-US" dirty="0"/>
              <a:t> (for 1000 classes)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65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2D7AD-7CEE-323E-1FC6-BEEF27C9F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C747-92D0-2318-2F29-7D6E5C962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0"/>
            <a:ext cx="10515600" cy="949869"/>
          </a:xfrm>
        </p:spPr>
        <p:txBody>
          <a:bodyPr/>
          <a:lstStyle/>
          <a:p>
            <a:r>
              <a:rPr lang="en-US" dirty="0"/>
              <a:t>VGG-16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14E5B-218A-2387-4B08-2C1F99BA4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03" y="1097279"/>
            <a:ext cx="9490325" cy="432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828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0DBF-C3D4-CB96-AABA-0996BAAE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8066"/>
          </a:xfrm>
        </p:spPr>
        <p:txBody>
          <a:bodyPr/>
          <a:lstStyle/>
          <a:p>
            <a:r>
              <a:rPr lang="en-US" dirty="0"/>
              <a:t>VGG-16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C19F-E055-DF32-2154-230CC3CB6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192"/>
            <a:ext cx="10515600" cy="49137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keras.applications</a:t>
            </a:r>
            <a:r>
              <a:rPr lang="en-US" dirty="0"/>
              <a:t> import VGG16 </a:t>
            </a:r>
          </a:p>
          <a:p>
            <a:pPr marL="0" indent="0">
              <a:buNone/>
            </a:pPr>
            <a:r>
              <a:rPr lang="en-US" dirty="0" err="1"/>
              <a:t>conv_base</a:t>
            </a:r>
            <a:r>
              <a:rPr lang="en-US" dirty="0"/>
              <a:t> = VGG16(weights='</a:t>
            </a:r>
            <a:r>
              <a:rPr lang="en-US" dirty="0" err="1"/>
              <a:t>imagenet</a:t>
            </a:r>
            <a:r>
              <a:rPr lang="en-US" dirty="0"/>
              <a:t>’, </a:t>
            </a:r>
          </a:p>
          <a:p>
            <a:pPr marL="0" indent="0">
              <a:buNone/>
            </a:pPr>
            <a:r>
              <a:rPr lang="en-US" dirty="0"/>
              <a:t>                                      </a:t>
            </a:r>
            <a:r>
              <a:rPr lang="en-US" dirty="0" err="1"/>
              <a:t>include_top</a:t>
            </a:r>
            <a:r>
              <a:rPr lang="en-US" dirty="0"/>
              <a:t>=False, </a:t>
            </a:r>
          </a:p>
          <a:p>
            <a:pPr marL="0" indent="0">
              <a:buNone/>
            </a:pPr>
            <a:r>
              <a:rPr lang="en-US" dirty="0"/>
              <a:t>                                      </a:t>
            </a:r>
            <a:r>
              <a:rPr lang="en-US" dirty="0" err="1"/>
              <a:t>input_shape</a:t>
            </a:r>
            <a:r>
              <a:rPr lang="en-US" dirty="0"/>
              <a:t>=(150, 150, 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include_top</a:t>
            </a:r>
            <a:r>
              <a:rPr lang="en-US" b="1" dirty="0"/>
              <a:t> </a:t>
            </a:r>
            <a:r>
              <a:rPr lang="en-US" dirty="0"/>
              <a:t>refers to including (or not) the densely connected classifier on top of the network. We are not including them as we intends to use only non-classifier layers. </a:t>
            </a:r>
          </a:p>
        </p:txBody>
      </p:sp>
    </p:spTree>
    <p:extLst>
      <p:ext uri="{BB962C8B-B14F-4D97-AF65-F5344CB8AC3E}">
        <p14:creationId xmlns:p14="http://schemas.microsoft.com/office/powerpoint/2010/main" val="12751000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D5C3-4B5A-559A-7FAC-9AA8E360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/>
          <a:lstStyle/>
          <a:p>
            <a:r>
              <a:rPr lang="en-US" dirty="0"/>
              <a:t>Fine Tunning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B996E-CABA-C31F-F475-8D9250DE9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60"/>
            <a:ext cx="10515600" cy="4819503"/>
          </a:xfrm>
        </p:spPr>
        <p:txBody>
          <a:bodyPr/>
          <a:lstStyle/>
          <a:p>
            <a:r>
              <a:rPr lang="en-US" dirty="0"/>
              <a:t> Fine-tuning consists of unfreezing a few of the top layers of a frozen model base used for feature extraction, and jointly training both the newly added part of the model.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415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A652-95BA-2EA0-89AD-1887FEB3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A640-EE35-E582-0A2D-BA0E93F5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6665"/>
          </a:xfrm>
        </p:spPr>
        <p:txBody>
          <a:bodyPr/>
          <a:lstStyle/>
          <a:p>
            <a:r>
              <a:rPr lang="en-US" dirty="0"/>
              <a:t>Fine Tunning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36BA-9BA2-FE02-E630-B3EC04946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702"/>
            <a:ext cx="10515600" cy="50551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conv_base.trainable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set_trainable</a:t>
            </a:r>
            <a:r>
              <a:rPr lang="en-US" dirty="0"/>
              <a:t> = False</a:t>
            </a:r>
          </a:p>
          <a:p>
            <a:pPr marL="0" indent="0">
              <a:buNone/>
            </a:pPr>
            <a:r>
              <a:rPr lang="en-US" dirty="0"/>
              <a:t> for layer in </a:t>
            </a:r>
            <a:r>
              <a:rPr lang="en-US" dirty="0" err="1"/>
              <a:t>conv_base.layers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if layer.name == 'block5_conv1’: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set_trainable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/>
              <a:t>      if </a:t>
            </a:r>
            <a:r>
              <a:rPr lang="en-US" dirty="0" err="1"/>
              <a:t>set_trainable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layer.trainable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/>
              <a:t>      else: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layer.trainable</a:t>
            </a:r>
            <a:r>
              <a:rPr lang="en-US" dirty="0"/>
              <a:t> = False</a:t>
            </a:r>
          </a:p>
        </p:txBody>
      </p:sp>
    </p:spTree>
    <p:extLst>
      <p:ext uri="{BB962C8B-B14F-4D97-AF65-F5344CB8AC3E}">
        <p14:creationId xmlns:p14="http://schemas.microsoft.com/office/powerpoint/2010/main" val="3040230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2965</Words>
  <Application>Microsoft Office PowerPoint</Application>
  <PresentationFormat>Widescreen</PresentationFormat>
  <Paragraphs>1137</Paragraphs>
  <Slides>65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Calibri</vt:lpstr>
      <vt:lpstr>Courier New</vt:lpstr>
      <vt:lpstr>Montserrat</vt:lpstr>
      <vt:lpstr>Noto Sans Symbols</vt:lpstr>
      <vt:lpstr>Wingdings</vt:lpstr>
      <vt:lpstr>Office Theme</vt:lpstr>
      <vt:lpstr>Understanding Artificial Neural Networks</vt:lpstr>
      <vt:lpstr>ANN</vt:lpstr>
      <vt:lpstr>Perceptron Model</vt:lpstr>
      <vt:lpstr>Perceptron Model</vt:lpstr>
      <vt:lpstr>Perceptron Model</vt:lpstr>
      <vt:lpstr>Perceptron Model</vt:lpstr>
      <vt:lpstr>Perceptron Model</vt:lpstr>
      <vt:lpstr>Perceptron Model</vt:lpstr>
      <vt:lpstr>Perceptron Model</vt:lpstr>
      <vt:lpstr>Neural Networks</vt:lpstr>
      <vt:lpstr>Gradient Descent</vt:lpstr>
      <vt:lpstr>Activation Functions</vt:lpstr>
      <vt:lpstr>Vanishing Gradient</vt:lpstr>
      <vt:lpstr>Activation Functions</vt:lpstr>
      <vt:lpstr>Multiclass Classification</vt:lpstr>
      <vt:lpstr>Multiclass classification</vt:lpstr>
      <vt:lpstr>Multiclass classification</vt:lpstr>
      <vt:lpstr>Multiclass classification</vt:lpstr>
      <vt:lpstr>Multiclass classification</vt:lpstr>
      <vt:lpstr>Multiclass classification</vt:lpstr>
      <vt:lpstr>Multiclass classification</vt:lpstr>
      <vt:lpstr>Cost (Loss) Function</vt:lpstr>
      <vt:lpstr>(Loss) Function</vt:lpstr>
      <vt:lpstr>(Loss) Function</vt:lpstr>
      <vt:lpstr>(Loss) Function</vt:lpstr>
      <vt:lpstr>(Loss) Function</vt:lpstr>
      <vt:lpstr>Learning Rate</vt:lpstr>
      <vt:lpstr>Adam</vt:lpstr>
      <vt:lpstr>Convolutional Neural Networks</vt:lpstr>
      <vt:lpstr>Convolutional Neural Network: CNN</vt:lpstr>
      <vt:lpstr>Consider learning an image:</vt:lpstr>
      <vt:lpstr>Same pattern appears in different places: They can be compressed! What about training a lot of such “small” detectors and each detector must “move around”.</vt:lpstr>
      <vt:lpstr>A convolutional layer</vt:lpstr>
      <vt:lpstr>Convolution</vt:lpstr>
      <vt:lpstr>Convolution</vt:lpstr>
      <vt:lpstr>Convolution</vt:lpstr>
      <vt:lpstr>Convolution</vt:lpstr>
      <vt:lpstr>Convolution</vt:lpstr>
      <vt:lpstr>Color image: RGB 3 channels</vt:lpstr>
      <vt:lpstr>PowerPoint Presentation</vt:lpstr>
      <vt:lpstr>PowerPoint Presentation</vt:lpstr>
      <vt:lpstr>PowerPoint Presentation</vt:lpstr>
      <vt:lpstr>The whole CNN</vt:lpstr>
      <vt:lpstr>Max Pooling</vt:lpstr>
      <vt:lpstr>Why Pooling</vt:lpstr>
      <vt:lpstr>A CNN compresses a fully connected network in two ways:</vt:lpstr>
      <vt:lpstr>Max Pooling</vt:lpstr>
      <vt:lpstr>The whole CNN</vt:lpstr>
      <vt:lpstr>The whole CNN</vt:lpstr>
      <vt:lpstr>Flattening</vt:lpstr>
      <vt:lpstr>PowerPoint Presentation</vt:lpstr>
      <vt:lpstr>CNN</vt:lpstr>
      <vt:lpstr>Pretrained Models </vt:lpstr>
      <vt:lpstr>Pretrained Models</vt:lpstr>
      <vt:lpstr>IMAGE-NET</vt:lpstr>
      <vt:lpstr>Pre-trained Models</vt:lpstr>
      <vt:lpstr>Features Extraction</vt:lpstr>
      <vt:lpstr>Features Extraction</vt:lpstr>
      <vt:lpstr>Features Extraction</vt:lpstr>
      <vt:lpstr>List of Pretrained Models</vt:lpstr>
      <vt:lpstr>VGG-16</vt:lpstr>
      <vt:lpstr>VGG-16</vt:lpstr>
      <vt:lpstr>VGG-16</vt:lpstr>
      <vt:lpstr>Fine Tunning</vt:lpstr>
      <vt:lpstr>Fine Tunning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10</cp:revision>
  <dcterms:created xsi:type="dcterms:W3CDTF">2025-09-14T06:49:02Z</dcterms:created>
  <dcterms:modified xsi:type="dcterms:W3CDTF">2025-09-29T07:57:05Z</dcterms:modified>
</cp:coreProperties>
</file>